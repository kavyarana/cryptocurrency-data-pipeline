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5" r:id="rId5"/>
    <p:sldId id="306" r:id="rId6"/>
    <p:sldId id="319" r:id="rId7"/>
    <p:sldId id="308" r:id="rId8"/>
    <p:sldId id="320" r:id="rId9"/>
    <p:sldId id="331" r:id="rId10"/>
    <p:sldId id="332" r:id="rId11"/>
    <p:sldId id="321" r:id="rId12"/>
    <p:sldId id="322" r:id="rId13"/>
    <p:sldId id="325" r:id="rId14"/>
    <p:sldId id="327" r:id="rId15"/>
    <p:sldId id="323" r:id="rId16"/>
    <p:sldId id="324" r:id="rId17"/>
    <p:sldId id="333" r:id="rId18"/>
    <p:sldId id="326" r:id="rId19"/>
    <p:sldId id="328" r:id="rId20"/>
    <p:sldId id="329" r:id="rId21"/>
    <p:sldId id="33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B4AC0-AEFD-44AC-9DC4-00C36218F006}" v="396" dt="2026-01-13T11:44:00.866"/>
    <p1510:client id="{C07F3C01-D7E2-E6B9-1A35-65ED042080F9}" v="2388" dt="2026-01-13T03:40:00.413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>
        <p:scale>
          <a:sx n="100" d="100"/>
          <a:sy n="100" d="100"/>
        </p:scale>
        <p:origin x="-312" y="-768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No.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EFB20A-DB80-3665-FB8F-ECDCB3999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198" y="68076"/>
            <a:ext cx="1047750" cy="1057275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A1307CF3-0DC5-5CAC-011A-CF58719F8D07}"/>
              </a:ext>
            </a:extLst>
          </p:cNvPr>
          <p:cNvSpPr txBox="1"/>
          <p:nvPr/>
        </p:nvSpPr>
        <p:spPr>
          <a:xfrm>
            <a:off x="839520" y="1396024"/>
            <a:ext cx="6348691" cy="138499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CRYPTOCURRENCY DATA PIPELINE</a:t>
            </a:r>
            <a:br>
              <a:rPr lang="en-US" sz="2800" b="1" dirty="0">
                <a:latin typeface="Aptos Display"/>
              </a:rPr>
            </a:br>
            <a:r>
              <a:rPr lang="en-US" sz="2800" b="1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Real-time Streaming &amp; Batch Processing </a:t>
            </a:r>
            <a:endParaRPr lang="en-US" sz="28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Using AWS Cloud Services</a:t>
            </a:r>
            <a:endParaRPr lang="en-US" sz="2800" b="1">
              <a:solidFill>
                <a:schemeClr val="bg1"/>
              </a:solidFill>
              <a:latin typeface="Aptos Light"/>
              <a:ea typeface="Calibri"/>
              <a:cs typeface="Calibri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5AFB1982-7F70-2D09-0247-9CC490E8117D}"/>
              </a:ext>
            </a:extLst>
          </p:cNvPr>
          <p:cNvSpPr txBox="1"/>
          <p:nvPr/>
        </p:nvSpPr>
        <p:spPr>
          <a:xfrm>
            <a:off x="841375" y="5099621"/>
            <a:ext cx="274320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dirty="0">
                <a:solidFill>
                  <a:schemeClr val="bg1"/>
                </a:solidFill>
                <a:latin typeface="Arial"/>
                <a:cs typeface="Arial"/>
              </a:rPr>
              <a:t>Kavya Rana</a:t>
            </a:r>
            <a:br>
              <a:rPr lang="en" dirty="0">
                <a:latin typeface="Arial"/>
                <a:cs typeface="Arial"/>
              </a:rPr>
            </a:br>
            <a:r>
              <a:rPr lang="en" dirty="0">
                <a:solidFill>
                  <a:schemeClr val="bg1"/>
                </a:solidFill>
                <a:latin typeface="Arial"/>
                <a:cs typeface="Arial"/>
              </a:rPr>
              <a:t>Big Data Engineer</a:t>
            </a:r>
            <a:br>
              <a:rPr lang="en" dirty="0">
                <a:latin typeface="Arial"/>
                <a:cs typeface="Arial"/>
              </a:rPr>
            </a:br>
            <a:r>
              <a:rPr lang="en" dirty="0">
                <a:solidFill>
                  <a:schemeClr val="bg1"/>
                </a:solidFill>
                <a:latin typeface="Arial"/>
                <a:cs typeface="Arial"/>
              </a:rPr>
              <a:t>Date: 13-01-2025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BE45353C-632C-EBC5-8E45-DA950FD2D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BBB4947E-08EE-6C25-BCD6-43B1D00EE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0" name="Shape 0">
            <a:extLst>
              <a:ext uri="{FF2B5EF4-FFF2-40B4-BE49-F238E27FC236}">
                <a16:creationId xmlns:a16="http://schemas.microsoft.com/office/drawing/2014/main" id="{DCE599DA-77DE-9D9E-9083-F8EF27D03CF7}"/>
              </a:ext>
            </a:extLst>
          </p:cNvPr>
          <p:cNvSpPr/>
          <p:nvPr/>
        </p:nvSpPr>
        <p:spPr>
          <a:xfrm>
            <a:off x="219075" y="579537"/>
            <a:ext cx="0" cy="544711"/>
          </a:xfrm>
          <a:prstGeom prst="line">
            <a:avLst/>
          </a:prstGeom>
          <a:noFill/>
          <a:ln w="571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91" name="Text 1">
            <a:extLst>
              <a:ext uri="{FF2B5EF4-FFF2-40B4-BE49-F238E27FC236}">
                <a16:creationId xmlns:a16="http://schemas.microsoft.com/office/drawing/2014/main" id="{BA06319B-EE39-7921-7429-1A8BB3119661}"/>
              </a:ext>
            </a:extLst>
          </p:cNvPr>
          <p:cNvSpPr/>
          <p:nvPr/>
        </p:nvSpPr>
        <p:spPr>
          <a:xfrm>
            <a:off x="400050" y="57953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000" b="1" dirty="0">
                <a:latin typeface="Arial"/>
                <a:ea typeface="Arial" pitchFamily="34" charset="-122"/>
                <a:cs typeface="Arial"/>
              </a:rPr>
              <a:t>Agenda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92" name="Text 2">
            <a:extLst>
              <a:ext uri="{FF2B5EF4-FFF2-40B4-BE49-F238E27FC236}">
                <a16:creationId xmlns:a16="http://schemas.microsoft.com/office/drawing/2014/main" id="{25098AF8-F3AC-5157-C0C3-FC9371AC974B}"/>
              </a:ext>
            </a:extLst>
          </p:cNvPr>
          <p:cNvSpPr/>
          <p:nvPr/>
        </p:nvSpPr>
        <p:spPr>
          <a:xfrm>
            <a:off x="400050" y="95101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Overview</a:t>
            </a:r>
            <a:endParaRPr lang="en-US" sz="1000" dirty="0"/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FB5DDF1D-EF5B-74EC-AB9A-AFFF30E1999E}"/>
              </a:ext>
            </a:extLst>
          </p:cNvPr>
          <p:cNvSpPr/>
          <p:nvPr/>
        </p:nvSpPr>
        <p:spPr>
          <a:xfrm>
            <a:off x="2196353" y="187649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A244EDA3-CC4A-6111-6E9A-ADD7EF1E3B06}"/>
              </a:ext>
            </a:extLst>
          </p:cNvPr>
          <p:cNvSpPr/>
          <p:nvPr/>
        </p:nvSpPr>
        <p:spPr>
          <a:xfrm>
            <a:off x="2348753" y="1827977"/>
            <a:ext cx="20490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Introduction &amp; Problem Statement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CED927A8-AE3C-9509-1196-F53E7B8D25D5}"/>
              </a:ext>
            </a:extLst>
          </p:cNvPr>
          <p:cNvSpPr/>
          <p:nvPr/>
        </p:nvSpPr>
        <p:spPr>
          <a:xfrm>
            <a:off x="2371165" y="219283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challenges &amp; solution requirements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C04C31B6-D10C-8144-10C6-F927D75D34B1}"/>
              </a:ext>
            </a:extLst>
          </p:cNvPr>
          <p:cNvSpPr/>
          <p:nvPr/>
        </p:nvSpPr>
        <p:spPr>
          <a:xfrm>
            <a:off x="2196353" y="247107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1DF1C567-0DA5-1C03-9305-C3FFD50BD3B1}"/>
              </a:ext>
            </a:extLst>
          </p:cNvPr>
          <p:cNvSpPr/>
          <p:nvPr/>
        </p:nvSpPr>
        <p:spPr>
          <a:xfrm>
            <a:off x="2348753" y="2411349"/>
            <a:ext cx="1071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Technology Stack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0E7F064F-ED7A-75EC-75CC-236320C606B9}"/>
              </a:ext>
            </a:extLst>
          </p:cNvPr>
          <p:cNvSpPr/>
          <p:nvPr/>
        </p:nvSpPr>
        <p:spPr>
          <a:xfrm>
            <a:off x="2326340" y="2753793"/>
            <a:ext cx="4022217" cy="20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AWS services &amp; technologies overview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8069DBC4-7286-05B0-D2FA-7D06489E6EAB}"/>
              </a:ext>
            </a:extLst>
          </p:cNvPr>
          <p:cNvSpPr/>
          <p:nvPr/>
        </p:nvSpPr>
        <p:spPr>
          <a:xfrm>
            <a:off x="2196353" y="304323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2801D94E-D34B-5B7C-B845-AA7BCCF78453}"/>
              </a:ext>
            </a:extLst>
          </p:cNvPr>
          <p:cNvSpPr/>
          <p:nvPr/>
        </p:nvSpPr>
        <p:spPr>
          <a:xfrm>
            <a:off x="2348753" y="2994720"/>
            <a:ext cx="134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Architecture Overview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2CA63ECB-20E8-9B23-F103-12F681DC88DF}"/>
              </a:ext>
            </a:extLst>
          </p:cNvPr>
          <p:cNvSpPr/>
          <p:nvPr/>
        </p:nvSpPr>
        <p:spPr>
          <a:xfrm>
            <a:off x="2348753" y="335957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Architecture (Daily Processing)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CB69411D-35A0-F869-8F72-CA8F52B5D411}"/>
              </a:ext>
            </a:extLst>
          </p:cNvPr>
          <p:cNvSpPr/>
          <p:nvPr/>
        </p:nvSpPr>
        <p:spPr>
          <a:xfrm>
            <a:off x="2348753" y="351197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Architecture (Real-Time)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C76E2571-0F6F-A491-76D5-DEBECB1519D8}"/>
              </a:ext>
            </a:extLst>
          </p:cNvPr>
          <p:cNvSpPr/>
          <p:nvPr/>
        </p:nvSpPr>
        <p:spPr>
          <a:xfrm>
            <a:off x="2348753" y="364196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 Orchestration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A0B52468-55DA-58C8-ED28-935627986BAE}"/>
              </a:ext>
            </a:extLst>
          </p:cNvPr>
          <p:cNvSpPr/>
          <p:nvPr/>
        </p:nvSpPr>
        <p:spPr>
          <a:xfrm>
            <a:off x="2173941" y="394261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8F03B191-BC0A-C489-CEDB-DF942122EE0A}"/>
              </a:ext>
            </a:extLst>
          </p:cNvPr>
          <p:cNvSpPr/>
          <p:nvPr/>
        </p:nvSpPr>
        <p:spPr>
          <a:xfrm>
            <a:off x="2326341" y="3894096"/>
            <a:ext cx="14246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Data Source Integration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22086BFB-FCBA-9006-042D-A75749E3569B}"/>
              </a:ext>
            </a:extLst>
          </p:cNvPr>
          <p:cNvSpPr/>
          <p:nvPr/>
        </p:nvSpPr>
        <p:spPr>
          <a:xfrm>
            <a:off x="2348753" y="425895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API &amp; data collection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07" name="Text 17">
            <a:extLst>
              <a:ext uri="{FF2B5EF4-FFF2-40B4-BE49-F238E27FC236}">
                <a16:creationId xmlns:a16="http://schemas.microsoft.com/office/drawing/2014/main" id="{E8F3C694-A5AA-0721-2341-D9AD81FB82C0}"/>
              </a:ext>
            </a:extLst>
          </p:cNvPr>
          <p:cNvSpPr/>
          <p:nvPr/>
        </p:nvSpPr>
        <p:spPr>
          <a:xfrm>
            <a:off x="2196353" y="45147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108" name="Text 18">
            <a:extLst>
              <a:ext uri="{FF2B5EF4-FFF2-40B4-BE49-F238E27FC236}">
                <a16:creationId xmlns:a16="http://schemas.microsoft.com/office/drawing/2014/main" id="{44738EC8-B60E-91A8-4F7A-5F4FCF0B4C66}"/>
              </a:ext>
            </a:extLst>
          </p:cNvPr>
          <p:cNvSpPr/>
          <p:nvPr/>
        </p:nvSpPr>
        <p:spPr>
          <a:xfrm>
            <a:off x="2348753" y="4466262"/>
            <a:ext cx="13568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Medallion Architecture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9E75B44C-A5BF-C417-2F04-B6E46235588F}"/>
              </a:ext>
            </a:extLst>
          </p:cNvPr>
          <p:cNvSpPr/>
          <p:nvPr/>
        </p:nvSpPr>
        <p:spPr>
          <a:xfrm>
            <a:off x="2371165" y="4831119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(Raw data)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53A68291-6D4A-37FA-366A-A96BF9FE241D}"/>
              </a:ext>
            </a:extLst>
          </p:cNvPr>
          <p:cNvSpPr/>
          <p:nvPr/>
        </p:nvSpPr>
        <p:spPr>
          <a:xfrm>
            <a:off x="2348753" y="501713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(Cleaned &amp; validated)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1" name="Text 21">
            <a:extLst>
              <a:ext uri="{FF2B5EF4-FFF2-40B4-BE49-F238E27FC236}">
                <a16:creationId xmlns:a16="http://schemas.microsoft.com/office/drawing/2014/main" id="{259E83A0-380B-AC6D-1203-BF49AC7FBDE6}"/>
              </a:ext>
            </a:extLst>
          </p:cNvPr>
          <p:cNvSpPr/>
          <p:nvPr/>
        </p:nvSpPr>
        <p:spPr>
          <a:xfrm>
            <a:off x="2348753" y="5214359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(Analytics-ready)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ADEE9892-F0D4-A701-368D-546DA46EDDDC}"/>
              </a:ext>
            </a:extLst>
          </p:cNvPr>
          <p:cNvSpPr/>
          <p:nvPr/>
        </p:nvSpPr>
        <p:spPr>
          <a:xfrm>
            <a:off x="2371165" y="5389171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formats (JSON, Parquet)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B047E71D-EE3D-112E-4F89-31367B28BD00}"/>
              </a:ext>
            </a:extLst>
          </p:cNvPr>
          <p:cNvSpPr/>
          <p:nvPr/>
        </p:nvSpPr>
        <p:spPr>
          <a:xfrm>
            <a:off x="6460191" y="182046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04EC8846-2AB5-A308-5A13-EC2025BD3C06}"/>
              </a:ext>
            </a:extLst>
          </p:cNvPr>
          <p:cNvSpPr/>
          <p:nvPr/>
        </p:nvSpPr>
        <p:spPr>
          <a:xfrm>
            <a:off x="6612591" y="1771948"/>
            <a:ext cx="12492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Gold Layer Modeling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15" name="Text 25">
            <a:extLst>
              <a:ext uri="{FF2B5EF4-FFF2-40B4-BE49-F238E27FC236}">
                <a16:creationId xmlns:a16="http://schemas.microsoft.com/office/drawing/2014/main" id="{007B482D-B541-FEF0-2B9B-2AA80ABF390F}"/>
              </a:ext>
            </a:extLst>
          </p:cNvPr>
          <p:cNvSpPr/>
          <p:nvPr/>
        </p:nvSpPr>
        <p:spPr>
          <a:xfrm>
            <a:off x="6635003" y="2125599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design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5206DB73-25F1-EA0A-AEA8-82537734C086}"/>
              </a:ext>
            </a:extLst>
          </p:cNvPr>
          <p:cNvSpPr/>
          <p:nvPr/>
        </p:nvSpPr>
        <p:spPr>
          <a:xfrm>
            <a:off x="6612591" y="2322822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&amp; Fact tables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id="{54E9E442-9B74-5DF8-B42A-9A61A02172FA}"/>
              </a:ext>
            </a:extLst>
          </p:cNvPr>
          <p:cNvSpPr/>
          <p:nvPr/>
        </p:nvSpPr>
        <p:spPr>
          <a:xfrm>
            <a:off x="6460191" y="26346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DCDF4640-6E50-E230-1D27-408B9B109205}"/>
              </a:ext>
            </a:extLst>
          </p:cNvPr>
          <p:cNvSpPr/>
          <p:nvPr/>
        </p:nvSpPr>
        <p:spPr>
          <a:xfrm>
            <a:off x="6612591" y="2586160"/>
            <a:ext cx="1338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Data Quality &amp; Testing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19" name="Text 29">
            <a:extLst>
              <a:ext uri="{FF2B5EF4-FFF2-40B4-BE49-F238E27FC236}">
                <a16:creationId xmlns:a16="http://schemas.microsoft.com/office/drawing/2014/main" id="{C72953D4-1A80-D1F4-3AFB-C3A81D3BF7A3}"/>
              </a:ext>
            </a:extLst>
          </p:cNvPr>
          <p:cNvSpPr/>
          <p:nvPr/>
        </p:nvSpPr>
        <p:spPr>
          <a:xfrm>
            <a:off x="6635003" y="292860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DQDL framework &amp; validation rules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0" name="Text 30">
            <a:extLst>
              <a:ext uri="{FF2B5EF4-FFF2-40B4-BE49-F238E27FC236}">
                <a16:creationId xmlns:a16="http://schemas.microsoft.com/office/drawing/2014/main" id="{0AA7B6F5-2244-EFCA-B89C-E585DAA70D7E}"/>
              </a:ext>
            </a:extLst>
          </p:cNvPr>
          <p:cNvSpPr/>
          <p:nvPr/>
        </p:nvSpPr>
        <p:spPr>
          <a:xfrm>
            <a:off x="6482603" y="319563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EDE8BDFF-14D8-6662-F80E-B88107D1910C}"/>
              </a:ext>
            </a:extLst>
          </p:cNvPr>
          <p:cNvSpPr/>
          <p:nvPr/>
        </p:nvSpPr>
        <p:spPr>
          <a:xfrm>
            <a:off x="6635003" y="3147120"/>
            <a:ext cx="1326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CI/CD &amp; Infrastructure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2" name="Text 32">
            <a:extLst>
              <a:ext uri="{FF2B5EF4-FFF2-40B4-BE49-F238E27FC236}">
                <a16:creationId xmlns:a16="http://schemas.microsoft.com/office/drawing/2014/main" id="{AE4E2A7B-995B-5D67-3AAF-106E97841701}"/>
              </a:ext>
            </a:extLst>
          </p:cNvPr>
          <p:cNvSpPr/>
          <p:nvPr/>
        </p:nvSpPr>
        <p:spPr>
          <a:xfrm>
            <a:off x="6635003" y="348956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CodePipeline, CodeBuild &amp; automation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B7622F56-B9BF-22F4-0D31-E84E75D6C084}"/>
              </a:ext>
            </a:extLst>
          </p:cNvPr>
          <p:cNvSpPr/>
          <p:nvPr/>
        </p:nvSpPr>
        <p:spPr>
          <a:xfrm>
            <a:off x="6482603" y="371177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4" name="Text 34">
            <a:extLst>
              <a:ext uri="{FF2B5EF4-FFF2-40B4-BE49-F238E27FC236}">
                <a16:creationId xmlns:a16="http://schemas.microsoft.com/office/drawing/2014/main" id="{27173139-9AD2-9FE7-41AE-1B1CF16B63DB}"/>
              </a:ext>
            </a:extLst>
          </p:cNvPr>
          <p:cNvSpPr/>
          <p:nvPr/>
        </p:nvSpPr>
        <p:spPr>
          <a:xfrm>
            <a:off x="6646209" y="3663255"/>
            <a:ext cx="14318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QuickSight Dashboards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5" name="Text 35">
            <a:extLst>
              <a:ext uri="{FF2B5EF4-FFF2-40B4-BE49-F238E27FC236}">
                <a16:creationId xmlns:a16="http://schemas.microsoft.com/office/drawing/2014/main" id="{596D6EB7-B045-8715-7678-0CAD5DA7512A}"/>
              </a:ext>
            </a:extLst>
          </p:cNvPr>
          <p:cNvSpPr/>
          <p:nvPr/>
        </p:nvSpPr>
        <p:spPr>
          <a:xfrm>
            <a:off x="6635003" y="401690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Pipeline (Historical analytics)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6" name="Text 36">
            <a:extLst>
              <a:ext uri="{FF2B5EF4-FFF2-40B4-BE49-F238E27FC236}">
                <a16:creationId xmlns:a16="http://schemas.microsoft.com/office/drawing/2014/main" id="{1F21E987-C1BE-3890-56E3-9F86B3D3F4F4}"/>
              </a:ext>
            </a:extLst>
          </p:cNvPr>
          <p:cNvSpPr/>
          <p:nvPr/>
        </p:nvSpPr>
        <p:spPr>
          <a:xfrm>
            <a:off x="6635003" y="414689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Pipeline (Real-time insights)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6F4B9677-806F-61C3-C5A2-FCB9B271A2EC}"/>
              </a:ext>
            </a:extLst>
          </p:cNvPr>
          <p:cNvSpPr/>
          <p:nvPr/>
        </p:nvSpPr>
        <p:spPr>
          <a:xfrm>
            <a:off x="6482603" y="444754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4C6CB084-8C20-91A1-38FC-AC7C04EEC004}"/>
              </a:ext>
            </a:extLst>
          </p:cNvPr>
          <p:cNvSpPr/>
          <p:nvPr/>
        </p:nvSpPr>
        <p:spPr>
          <a:xfrm>
            <a:off x="6635003" y="4399026"/>
            <a:ext cx="18741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Challenges &amp; Lessons Learned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9" name="Text 39">
            <a:extLst>
              <a:ext uri="{FF2B5EF4-FFF2-40B4-BE49-F238E27FC236}">
                <a16:creationId xmlns:a16="http://schemas.microsoft.com/office/drawing/2014/main" id="{8F3D405C-A6B4-B492-51AB-9C63EBA0F1B9}"/>
              </a:ext>
            </a:extLst>
          </p:cNvPr>
          <p:cNvSpPr/>
          <p:nvPr/>
        </p:nvSpPr>
        <p:spPr>
          <a:xfrm>
            <a:off x="6646209" y="476388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obstacles &amp; solutions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0" name="Text 40">
            <a:extLst>
              <a:ext uri="{FF2B5EF4-FFF2-40B4-BE49-F238E27FC236}">
                <a16:creationId xmlns:a16="http://schemas.microsoft.com/office/drawing/2014/main" id="{1295A457-1ACF-C12D-F23E-10C7C33A2895}"/>
              </a:ext>
            </a:extLst>
          </p:cNvPr>
          <p:cNvSpPr/>
          <p:nvPr/>
        </p:nvSpPr>
        <p:spPr>
          <a:xfrm>
            <a:off x="6493809" y="501971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1" name="Text 41">
            <a:extLst>
              <a:ext uri="{FF2B5EF4-FFF2-40B4-BE49-F238E27FC236}">
                <a16:creationId xmlns:a16="http://schemas.microsoft.com/office/drawing/2014/main" id="{B78B0D85-7551-3065-8662-E134ED6402FF}"/>
              </a:ext>
            </a:extLst>
          </p:cNvPr>
          <p:cNvSpPr/>
          <p:nvPr/>
        </p:nvSpPr>
        <p:spPr>
          <a:xfrm>
            <a:off x="6646209" y="4971192"/>
            <a:ext cx="1326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buNone/>
            </a:pPr>
            <a:r>
              <a:rPr lang="en-US" sz="10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Future Enhancements</a:t>
            </a:r>
            <a:endParaRPr lang="en-US" sz="1000">
              <a:solidFill>
                <a:schemeClr val="accent1">
                  <a:lumMod val="49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2" name="Text 42">
            <a:extLst>
              <a:ext uri="{FF2B5EF4-FFF2-40B4-BE49-F238E27FC236}">
                <a16:creationId xmlns:a16="http://schemas.microsoft.com/office/drawing/2014/main" id="{EE81BA98-1412-6C2A-9664-2E2F9BC9B7C2}"/>
              </a:ext>
            </a:extLst>
          </p:cNvPr>
          <p:cNvSpPr/>
          <p:nvPr/>
        </p:nvSpPr>
        <p:spPr>
          <a:xfrm>
            <a:off x="6635003" y="5324842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scalability improvements</a:t>
            </a:r>
            <a:endParaRPr 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2A42-CEAD-72C0-540F-C9016F01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571CA-0E59-6101-8730-189CD173561A}"/>
              </a:ext>
            </a:extLst>
          </p:cNvPr>
          <p:cNvSpPr/>
          <p:nvPr/>
        </p:nvSpPr>
        <p:spPr>
          <a:xfrm>
            <a:off x="219075" y="674787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7A13A6-6B00-A661-09AC-A997B9B5C4DB}"/>
              </a:ext>
            </a:extLst>
          </p:cNvPr>
          <p:cNvSpPr/>
          <p:nvPr/>
        </p:nvSpPr>
        <p:spPr>
          <a:xfrm>
            <a:off x="400050" y="67478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Problem Statement</a:t>
            </a:r>
            <a:endParaRPr lang="en-US" sz="2700" dirty="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6A7E96-90BC-1113-C548-6E9B9AE4EF23}"/>
              </a:ext>
            </a:extLst>
          </p:cNvPr>
          <p:cNvSpPr/>
          <p:nvPr/>
        </p:nvSpPr>
        <p:spPr>
          <a:xfrm>
            <a:off x="400050" y="104626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Cryptocurrency Data Challenge</a:t>
            </a:r>
            <a:endParaRPr lang="en-US" sz="975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1B89FA-BCC0-F904-9D1D-F204AA7D65D0}"/>
              </a:ext>
            </a:extLst>
          </p:cNvPr>
          <p:cNvSpPr/>
          <p:nvPr/>
        </p:nvSpPr>
        <p:spPr>
          <a:xfrm>
            <a:off x="2106706" y="1852630"/>
            <a:ext cx="4133850" cy="731341"/>
          </a:xfrm>
          <a:prstGeom prst="roundRect">
            <a:avLst>
              <a:gd name="adj" fmla="val 7814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D2DED2-4A83-3FE7-F7BD-353C30E266E6}"/>
              </a:ext>
            </a:extLst>
          </p:cNvPr>
          <p:cNvSpPr/>
          <p:nvPr/>
        </p:nvSpPr>
        <p:spPr>
          <a:xfrm>
            <a:off x="2125756" y="1852630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02EBF6-B1BF-3F6E-7793-62E06D4279CF}"/>
              </a:ext>
            </a:extLst>
          </p:cNvPr>
          <p:cNvSpPr/>
          <p:nvPr/>
        </p:nvSpPr>
        <p:spPr>
          <a:xfrm>
            <a:off x="2259106" y="196693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MANUAL DATA COLLECTION IMPOSSIBLE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995683-D96C-1394-9A8C-5813A4B7A573}"/>
              </a:ext>
            </a:extLst>
          </p:cNvPr>
          <p:cNvSpPr/>
          <p:nvPr/>
        </p:nvSpPr>
        <p:spPr>
          <a:xfrm>
            <a:off x="2259106" y="216115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coins × 1440 minutes/day = 144,000 manual checks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6FBE88-A912-E0E4-D6CA-3DAC291E6C2D}"/>
              </a:ext>
            </a:extLst>
          </p:cNvPr>
          <p:cNvSpPr/>
          <p:nvPr/>
        </p:nvSpPr>
        <p:spPr>
          <a:xfrm>
            <a:off x="2259106" y="233632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5-10 coins, 8 hours/day → Miss 95% of opportunities</a:t>
            </a:r>
            <a:endParaRPr lang="en-US" sz="10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E558763B-333C-F31F-6FE6-B41D151D07CE}"/>
              </a:ext>
            </a:extLst>
          </p:cNvPr>
          <p:cNvSpPr/>
          <p:nvPr/>
        </p:nvSpPr>
        <p:spPr>
          <a:xfrm>
            <a:off x="2106706" y="2679221"/>
            <a:ext cx="4133850" cy="731341"/>
          </a:xfrm>
          <a:prstGeom prst="roundRect">
            <a:avLst>
              <a:gd name="adj" fmla="val 7814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5FB97209-6B64-D767-C3A4-A070E249A9A9}"/>
              </a:ext>
            </a:extLst>
          </p:cNvPr>
          <p:cNvSpPr/>
          <p:nvPr/>
        </p:nvSpPr>
        <p:spPr>
          <a:xfrm>
            <a:off x="2125756" y="2679221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D52C10B1-655E-F1B6-CFAF-2997DB48BCE8}"/>
              </a:ext>
            </a:extLst>
          </p:cNvPr>
          <p:cNvSpPr/>
          <p:nvPr/>
        </p:nvSpPr>
        <p:spPr>
          <a:xfrm>
            <a:off x="2259106" y="2793521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DATA QUALITY ISSUES</a:t>
            </a:r>
            <a:endParaRPr lang="en-US" sz="10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B4D6D168-F490-36FA-82CE-83A431422B0C}"/>
              </a:ext>
            </a:extLst>
          </p:cNvPr>
          <p:cNvSpPr/>
          <p:nvPr/>
        </p:nvSpPr>
        <p:spPr>
          <a:xfrm>
            <a:off x="2259106" y="2987742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return inconsistent data (missing fields, duplicates)</a:t>
            </a:r>
            <a:endParaRPr lang="en-US" sz="10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6D5C76EE-2BBC-05F6-5F09-63F03914B5F9}"/>
              </a:ext>
            </a:extLst>
          </p:cNvPr>
          <p:cNvSpPr/>
          <p:nvPr/>
        </p:nvSpPr>
        <p:spPr>
          <a:xfrm>
            <a:off x="2259106" y="316291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15-20% bad data → Wrong decisions → Financial losses</a:t>
            </a:r>
            <a:endParaRPr lang="en-US" sz="10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5D7BEDE1-17EE-4B85-4B57-CE7E539DBB32}"/>
              </a:ext>
            </a:extLst>
          </p:cNvPr>
          <p:cNvSpPr/>
          <p:nvPr/>
        </p:nvSpPr>
        <p:spPr>
          <a:xfrm>
            <a:off x="2106706" y="3505812"/>
            <a:ext cx="4133850" cy="731341"/>
          </a:xfrm>
          <a:prstGeom prst="roundRect">
            <a:avLst>
              <a:gd name="adj" fmla="val 7814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2EAB24D0-A69E-368C-6CAD-DEDBC2DBC83C}"/>
              </a:ext>
            </a:extLst>
          </p:cNvPr>
          <p:cNvSpPr/>
          <p:nvPr/>
        </p:nvSpPr>
        <p:spPr>
          <a:xfrm>
            <a:off x="2125756" y="3505812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1868FD4D-EAF0-BD50-FD18-398E82395B67}"/>
              </a:ext>
            </a:extLst>
          </p:cNvPr>
          <p:cNvSpPr/>
          <p:nvPr/>
        </p:nvSpPr>
        <p:spPr>
          <a:xfrm>
            <a:off x="2259106" y="3620112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LATENCY KILLS OPPORTUNITIES</a:t>
            </a:r>
            <a:endParaRPr lang="en-US" sz="10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A7A0670F-21A4-6B40-C691-EA758D629C5D}"/>
              </a:ext>
            </a:extLst>
          </p:cNvPr>
          <p:cNvSpPr/>
          <p:nvPr/>
        </p:nvSpPr>
        <p:spPr>
          <a:xfrm>
            <a:off x="2259106" y="3814333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checks: 15-30 minute delays</a:t>
            </a:r>
            <a:endParaRPr lang="en-US" sz="10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07927921-E744-D4E6-A7AE-CC3F860930F4}"/>
              </a:ext>
            </a:extLst>
          </p:cNvPr>
          <p:cNvSpPr/>
          <p:nvPr/>
        </p:nvSpPr>
        <p:spPr>
          <a:xfrm>
            <a:off x="2259106" y="398950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can swing 10% in minutes. Price already moved.</a:t>
            </a:r>
            <a:endParaRPr lang="en-US" sz="100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217324CA-2647-7611-7D1C-CE5B0E34F499}"/>
              </a:ext>
            </a:extLst>
          </p:cNvPr>
          <p:cNvSpPr/>
          <p:nvPr/>
        </p:nvSpPr>
        <p:spPr>
          <a:xfrm>
            <a:off x="2106706" y="4332404"/>
            <a:ext cx="4133850" cy="731341"/>
          </a:xfrm>
          <a:prstGeom prst="roundRect">
            <a:avLst>
              <a:gd name="adj" fmla="val 7814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66" name="Shape 19">
            <a:extLst>
              <a:ext uri="{FF2B5EF4-FFF2-40B4-BE49-F238E27FC236}">
                <a16:creationId xmlns:a16="http://schemas.microsoft.com/office/drawing/2014/main" id="{4A636B6B-F188-B10C-B41B-83D9564C01EE}"/>
              </a:ext>
            </a:extLst>
          </p:cNvPr>
          <p:cNvSpPr/>
          <p:nvPr/>
        </p:nvSpPr>
        <p:spPr>
          <a:xfrm>
            <a:off x="2125756" y="4332404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740F2FA2-EA06-595B-EB69-0EAF132C6F70}"/>
              </a:ext>
            </a:extLst>
          </p:cNvPr>
          <p:cNvSpPr/>
          <p:nvPr/>
        </p:nvSpPr>
        <p:spPr>
          <a:xfrm>
            <a:off x="2259106" y="444670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CANNOT SCALE</a:t>
            </a:r>
            <a:endParaRPr lang="en-US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FA431064-9ED5-BCD4-798C-FABF0FC6FFC6}"/>
              </a:ext>
            </a:extLst>
          </p:cNvPr>
          <p:cNvSpPr/>
          <p:nvPr/>
        </p:nvSpPr>
        <p:spPr>
          <a:xfrm>
            <a:off x="2259106" y="4640925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10 coins → need 100+ within months</a:t>
            </a:r>
            <a:endParaRPr lang="en-US" sz="10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B4E01E95-8356-E406-D9ED-7A6A1692AA80}"/>
              </a:ext>
            </a:extLst>
          </p:cNvPr>
          <p:cNvSpPr/>
          <p:nvPr/>
        </p:nvSpPr>
        <p:spPr>
          <a:xfrm>
            <a:off x="2259106" y="481609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 break. No way to add without rebuilding.</a:t>
            </a:r>
            <a:endParaRPr lang="en-US" sz="10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436A6814-F1BD-95AF-0D5A-147775B14303}"/>
              </a:ext>
            </a:extLst>
          </p:cNvPr>
          <p:cNvSpPr/>
          <p:nvPr/>
        </p:nvSpPr>
        <p:spPr>
          <a:xfrm>
            <a:off x="6354856" y="1852630"/>
            <a:ext cx="4133850" cy="1118146"/>
          </a:xfrm>
          <a:prstGeom prst="roundRect">
            <a:avLst>
              <a:gd name="adj" fmla="val 5111"/>
            </a:avLst>
          </a:prstGeom>
          <a:solidFill>
            <a:srgbClr val="1A2942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D041B1B9-267E-F01A-72D8-5013366DB7EC}"/>
              </a:ext>
            </a:extLst>
          </p:cNvPr>
          <p:cNvSpPr/>
          <p:nvPr/>
        </p:nvSpPr>
        <p:spPr>
          <a:xfrm>
            <a:off x="6488206" y="198598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BUSINESS IMPACT</a:t>
            </a:r>
            <a:endParaRPr lang="en-US" sz="1000" dirty="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EB408865-C3D5-35A4-5821-0BA7BBFEA531}"/>
              </a:ext>
            </a:extLst>
          </p:cNvPr>
          <p:cNvSpPr/>
          <p:nvPr/>
        </p:nvSpPr>
        <p:spPr>
          <a:xfrm>
            <a:off x="6488206" y="218972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Opportunities:</a:t>
            </a: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$50,000+ daily</a:t>
            </a:r>
            <a:endParaRPr lang="en-US" sz="1000" dirty="0"/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7613C900-DF04-C0FD-FB87-FDA8D9AEF7BD}"/>
              </a:ext>
            </a:extLst>
          </p:cNvPr>
          <p:cNvSpPr/>
          <p:nvPr/>
        </p:nvSpPr>
        <p:spPr>
          <a:xfrm>
            <a:off x="6488206" y="236117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Decisions:</a:t>
            </a: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20% error rate</a:t>
            </a:r>
            <a:endParaRPr lang="en-US" sz="10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6AB3AB62-CAD8-FF1F-FD7F-47FB830936AC}"/>
              </a:ext>
            </a:extLst>
          </p:cNvPr>
          <p:cNvSpPr/>
          <p:nvPr/>
        </p:nvSpPr>
        <p:spPr>
          <a:xfrm>
            <a:off x="6488206" y="253262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Cost:</a:t>
            </a: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15+ hours/week</a:t>
            </a:r>
            <a:endParaRPr lang="en-US" sz="1000" dirty="0"/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E2C4788C-9EE4-E085-C971-40B5F395543B}"/>
              </a:ext>
            </a:extLst>
          </p:cNvPr>
          <p:cNvSpPr/>
          <p:nvPr/>
        </p:nvSpPr>
        <p:spPr>
          <a:xfrm>
            <a:off x="6488206" y="270407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Gap:</a:t>
            </a: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Competitors react faster</a:t>
            </a:r>
            <a:endParaRPr lang="en-US" sz="1000" dirty="0"/>
          </a:p>
        </p:txBody>
      </p:sp>
      <p:pic>
        <p:nvPicPr>
          <p:cNvPr id="76" name="Image 0">
            <a:extLst>
              <a:ext uri="{FF2B5EF4-FFF2-40B4-BE49-F238E27FC236}">
                <a16:creationId xmlns:a16="http://schemas.microsoft.com/office/drawing/2014/main" id="{902128F4-640E-E532-CF8F-C61D5FFD3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856" y="3066025"/>
            <a:ext cx="4133850" cy="1251496"/>
          </a:xfrm>
          <a:prstGeom prst="rect">
            <a:avLst/>
          </a:prstGeom>
        </p:spPr>
      </p:pic>
      <p:sp>
        <p:nvSpPr>
          <p:cNvPr id="77" name="Text 29">
            <a:extLst>
              <a:ext uri="{FF2B5EF4-FFF2-40B4-BE49-F238E27FC236}">
                <a16:creationId xmlns:a16="http://schemas.microsoft.com/office/drawing/2014/main" id="{031957FB-07A5-F606-D60E-45F49D58C322}"/>
              </a:ext>
            </a:extLst>
          </p:cNvPr>
          <p:cNvSpPr/>
          <p:nvPr/>
        </p:nvSpPr>
        <p:spPr>
          <a:xfrm>
            <a:off x="6469156" y="318032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WHAT'S NEEDED</a:t>
            </a:r>
            <a:endParaRPr lang="en-US" sz="1000" dirty="0"/>
          </a:p>
        </p:txBody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D153A86D-4B4A-4B2C-00D0-2B09E92B8EE6}"/>
              </a:ext>
            </a:extLst>
          </p:cNvPr>
          <p:cNvSpPr/>
          <p:nvPr/>
        </p:nvSpPr>
        <p:spPr>
          <a:xfrm>
            <a:off x="6469156" y="338407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Process 100+ coins continuously (batch)</a:t>
            </a:r>
            <a:endParaRPr lang="en-US" sz="1000" dirty="0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C89876B3-B0ED-E35F-6435-81D24A43342B}"/>
              </a:ext>
            </a:extLst>
          </p:cNvPr>
          <p:cNvSpPr/>
          <p:nvPr/>
        </p:nvSpPr>
        <p:spPr>
          <a:xfrm>
            <a:off x="6469156" y="355552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Monitor priority coins in real-time (streaming)</a:t>
            </a:r>
            <a:endParaRPr lang="en-US" sz="100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BF972F53-6CBD-A2D3-6D1E-58E4C6D4E022}"/>
              </a:ext>
            </a:extLst>
          </p:cNvPr>
          <p:cNvSpPr/>
          <p:nvPr/>
        </p:nvSpPr>
        <p:spPr>
          <a:xfrm>
            <a:off x="6469156" y="372697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Ensure 99%+ data quality validation</a:t>
            </a:r>
            <a:endParaRPr lang="en-US" sz="1000" dirty="0"/>
          </a:p>
        </p:txBody>
      </p:sp>
      <p:sp>
        <p:nvSpPr>
          <p:cNvPr id="81" name="Text 33">
            <a:extLst>
              <a:ext uri="{FF2B5EF4-FFF2-40B4-BE49-F238E27FC236}">
                <a16:creationId xmlns:a16="http://schemas.microsoft.com/office/drawing/2014/main" id="{EE6EA6A2-BAF8-EA2F-712E-605ECFBA41B4}"/>
              </a:ext>
            </a:extLst>
          </p:cNvPr>
          <p:cNvSpPr/>
          <p:nvPr/>
        </p:nvSpPr>
        <p:spPr>
          <a:xfrm>
            <a:off x="6469156" y="389842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Deliver sub-second latency</a:t>
            </a:r>
            <a:endParaRPr lang="en-US" sz="1000" dirty="0"/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7C3C7A63-4E89-2A4A-4582-4AA8A5D127FA}"/>
              </a:ext>
            </a:extLst>
          </p:cNvPr>
          <p:cNvSpPr/>
          <p:nvPr/>
        </p:nvSpPr>
        <p:spPr>
          <a:xfrm>
            <a:off x="6469156" y="406987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Scale effortlessly (10 to 10,000 coins)</a:t>
            </a:r>
            <a:endParaRPr lang="en-US" sz="1000" dirty="0"/>
          </a:p>
        </p:txBody>
      </p:sp>
      <p:sp>
        <p:nvSpPr>
          <p:cNvPr id="83" name="Text 35">
            <a:extLst>
              <a:ext uri="{FF2B5EF4-FFF2-40B4-BE49-F238E27FC236}">
                <a16:creationId xmlns:a16="http://schemas.microsoft.com/office/drawing/2014/main" id="{C4277F2F-7E93-1D98-1E28-DBF5EC4D9933}"/>
              </a:ext>
            </a:extLst>
          </p:cNvPr>
          <p:cNvSpPr/>
          <p:nvPr/>
        </p:nvSpPr>
        <p:spPr>
          <a:xfrm>
            <a:off x="6354856" y="4412771"/>
            <a:ext cx="4133850" cy="512415"/>
          </a:xfrm>
          <a:prstGeom prst="roundRect">
            <a:avLst>
              <a:gd name="adj" fmla="val 11153"/>
            </a:avLst>
          </a:prstGeom>
          <a:solidFill>
            <a:srgbClr val="1E3A5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77E1E680-E7C3-4CA0-C2C6-F594D24FF107}"/>
              </a:ext>
            </a:extLst>
          </p:cNvPr>
          <p:cNvSpPr/>
          <p:nvPr/>
        </p:nvSpPr>
        <p:spPr>
          <a:xfrm>
            <a:off x="6410673" y="4508021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operate 24/7</a:t>
            </a:r>
            <a:endParaRPr lang="en-US" sz="1000" dirty="0"/>
          </a:p>
        </p:txBody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DEC77886-EBF9-1D25-1D6D-8AF947F7BD9F}"/>
              </a:ext>
            </a:extLst>
          </p:cNvPr>
          <p:cNvSpPr/>
          <p:nvPr/>
        </p:nvSpPr>
        <p:spPr>
          <a:xfrm>
            <a:off x="6410673" y="469658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cryptocurrencies with extreme volatility</a:t>
            </a:r>
            <a:endParaRPr lang="en-US" sz="10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A524263-F39E-B02E-5752-0CDBA0B3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B1ED16-7B50-1E60-443A-A0F49967F0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7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79A2E7FC-58F7-AACA-A3E3-CAB341062FD4}"/>
              </a:ext>
            </a:extLst>
          </p:cNvPr>
          <p:cNvSpPr/>
          <p:nvPr/>
        </p:nvSpPr>
        <p:spPr>
          <a:xfrm>
            <a:off x="219075" y="499170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59A385C-B0D0-A572-3FF0-1DFA3064EE31}"/>
              </a:ext>
            </a:extLst>
          </p:cNvPr>
          <p:cNvSpPr/>
          <p:nvPr/>
        </p:nvSpPr>
        <p:spPr>
          <a:xfrm>
            <a:off x="400050" y="49917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Batch Architecture</a:t>
            </a:r>
            <a:endParaRPr lang="en-US" sz="27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29661DF9-0237-4747-9DBA-823C1C42A29A}"/>
              </a:ext>
            </a:extLst>
          </p:cNvPr>
          <p:cNvSpPr/>
          <p:nvPr/>
        </p:nvSpPr>
        <p:spPr>
          <a:xfrm>
            <a:off x="400050" y="87064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 - Medallion Architecture</a:t>
            </a:r>
            <a:endParaRPr lang="en-US" sz="975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7AE862-89F6-9E2B-F993-6F7053F7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A75DA5-B212-0271-F537-745DFB62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875" y="1053352"/>
            <a:ext cx="8574131" cy="580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A71C-BCC3-AFF1-7AB2-98F4B17B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D7277-0C47-A861-C9E8-17B405D3C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6E186B-6F06-D824-6B70-E364C1B1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9E2B2FC-0564-384C-6DED-9F0D838CBC3B}"/>
              </a:ext>
            </a:extLst>
          </p:cNvPr>
          <p:cNvSpPr/>
          <p:nvPr/>
        </p:nvSpPr>
        <p:spPr>
          <a:xfrm>
            <a:off x="219075" y="499170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C5ABA7-210F-B2FB-83CA-C3C799A10E40}"/>
              </a:ext>
            </a:extLst>
          </p:cNvPr>
          <p:cNvSpPr/>
          <p:nvPr/>
        </p:nvSpPr>
        <p:spPr>
          <a:xfrm>
            <a:off x="400050" y="49917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Streaming Architecture</a:t>
            </a:r>
            <a:endParaRPr lang="en-US" sz="27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D5F9E5-3B0C-32BA-DE3C-E2F3B493D237}"/>
              </a:ext>
            </a:extLst>
          </p:cNvPr>
          <p:cNvSpPr/>
          <p:nvPr/>
        </p:nvSpPr>
        <p:spPr>
          <a:xfrm>
            <a:off x="400050" y="87064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- Lambda Architecture</a:t>
            </a:r>
            <a:endParaRPr lang="en-US" sz="975"/>
          </a:p>
        </p:txBody>
      </p:sp>
      <p:pic>
        <p:nvPicPr>
          <p:cNvPr id="6" name="Picture 5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66084C65-60F6-C0F7-4272-B34F8DA0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41" y="1365157"/>
            <a:ext cx="9925610" cy="53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8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94AE-3E3F-A5E4-480D-74B5590F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D7FF-AD68-BB23-55C5-D1331B6C70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4CD6A4-419E-35B0-817F-4B521B61B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D828A7-D41C-F232-39F0-B1CB2CE47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9" y="866775"/>
            <a:ext cx="5953125" cy="5505450"/>
          </a:xfrm>
          <a:prstGeom prst="rect">
            <a:avLst/>
          </a:prstGeom>
        </p:spPr>
      </p:pic>
      <p:sp>
        <p:nvSpPr>
          <p:cNvPr id="11" name="Shape 0">
            <a:extLst>
              <a:ext uri="{FF2B5EF4-FFF2-40B4-BE49-F238E27FC236}">
                <a16:creationId xmlns:a16="http://schemas.microsoft.com/office/drawing/2014/main" id="{5707AF64-0EE3-41CE-DDF5-7A5DD0F4CFDC}"/>
              </a:ext>
            </a:extLst>
          </p:cNvPr>
          <p:cNvSpPr/>
          <p:nvPr/>
        </p:nvSpPr>
        <p:spPr>
          <a:xfrm>
            <a:off x="286310" y="263846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3CB7B18-2185-BC79-AED9-211234717C86}"/>
              </a:ext>
            </a:extLst>
          </p:cNvPr>
          <p:cNvSpPr/>
          <p:nvPr/>
        </p:nvSpPr>
        <p:spPr>
          <a:xfrm>
            <a:off x="377639" y="398318"/>
            <a:ext cx="7532033" cy="54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sz="2700" b="1" dirty="0">
                <a:solidFill>
                  <a:schemeClr val="accent1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Step Function – workflow Orchestration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66A4-23ED-7404-0541-E575F2AD86BA}"/>
              </a:ext>
            </a:extLst>
          </p:cNvPr>
          <p:cNvSpPr txBox="1"/>
          <p:nvPr/>
        </p:nvSpPr>
        <p:spPr>
          <a:xfrm>
            <a:off x="241271" y="1567638"/>
            <a:ext cx="2832846" cy="25391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383A42"/>
                </a:solidFill>
                <a:ea typeface="+mn-lt"/>
                <a:cs typeface="+mn-lt"/>
              </a:rPr>
              <a:t>PURPOSE: 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rgbClr val="383A42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rgbClr val="383A42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383A42"/>
                </a:solidFill>
                <a:ea typeface="+mn-lt"/>
                <a:cs typeface="+mn-lt"/>
              </a:rPr>
              <a:t>• Orchestrates 4-job batch pipeline workflow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383A42"/>
                </a:solidFill>
                <a:ea typeface="+mn-lt"/>
                <a:cs typeface="+mn-lt"/>
              </a:rPr>
              <a:t>• Bronze → Transform → DQDL → Gold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383A42"/>
                </a:solidFill>
                <a:ea typeface="+mn-lt"/>
                <a:cs typeface="+mn-lt"/>
              </a:rPr>
              <a:t>• Visual state machine for easy monitoring </a:t>
            </a:r>
            <a:endParaRPr lang="en-US" sz="1400"/>
          </a:p>
          <a:p>
            <a:endParaRPr lang="en-US" sz="1100" dirty="0">
              <a:solidFill>
                <a:srgbClr val="383A42"/>
              </a:solidFill>
            </a:endParaRPr>
          </a:p>
          <a:p>
            <a:endParaRPr lang="en-US" sz="1100" dirty="0">
              <a:solidFill>
                <a:schemeClr val="accent4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100" dirty="0">
              <a:solidFill>
                <a:srgbClr val="383A42"/>
              </a:solidFill>
              <a:highlight>
                <a:srgbClr val="FFFFFF"/>
              </a:highlight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316756-368C-9E4B-03DE-5B9435F65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147" y="4913102"/>
            <a:ext cx="4291853" cy="145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0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71F2-F542-AED7-FE92-DB230CD6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59C86-5623-D02B-98FA-D9D9ADF16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E794DD-EF8E-14D4-858B-A97F2615E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11" name="Shape 0">
            <a:extLst>
              <a:ext uri="{FF2B5EF4-FFF2-40B4-BE49-F238E27FC236}">
                <a16:creationId xmlns:a16="http://schemas.microsoft.com/office/drawing/2014/main" id="{D339EE97-9CE3-DF7D-1BCB-9BB96E669AC5}"/>
              </a:ext>
            </a:extLst>
          </p:cNvPr>
          <p:cNvSpPr/>
          <p:nvPr/>
        </p:nvSpPr>
        <p:spPr>
          <a:xfrm>
            <a:off x="219075" y="499170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2CEFB61-B5F3-4AE1-B6CE-C6A6D419BCD9}"/>
              </a:ext>
            </a:extLst>
          </p:cNvPr>
          <p:cNvSpPr/>
          <p:nvPr/>
        </p:nvSpPr>
        <p:spPr>
          <a:xfrm>
            <a:off x="377639" y="600023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endParaRPr lang="en-US" sz="2700" b="1" dirty="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8F914-9717-5D7B-528D-83271ACEB531}"/>
              </a:ext>
            </a:extLst>
          </p:cNvPr>
          <p:cNvSpPr/>
          <p:nvPr/>
        </p:nvSpPr>
        <p:spPr>
          <a:xfrm>
            <a:off x="1645024" y="1483658"/>
            <a:ext cx="2286000" cy="32004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b="1" dirty="0">
                <a:solidFill>
                  <a:schemeClr val="tx1"/>
                </a:solidFill>
              </a:rPr>
              <a:t>DIM_COINS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coin_key</a:t>
            </a:r>
            <a:r>
              <a:rPr dirty="0">
                <a:solidFill>
                  <a:schemeClr val="tx1"/>
                </a:solidFill>
              </a:rPr>
              <a:t> (PK)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coin_id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symbol</a:t>
            </a:r>
          </a:p>
          <a:p>
            <a:r>
              <a:rPr dirty="0">
                <a:solidFill>
                  <a:schemeClr val="tx1"/>
                </a:solidFill>
              </a:rPr>
              <a:t>-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0EDBB-3BF7-83C0-87D0-31C7701781F1}"/>
              </a:ext>
            </a:extLst>
          </p:cNvPr>
          <p:cNvSpPr/>
          <p:nvPr/>
        </p:nvSpPr>
        <p:spPr>
          <a:xfrm>
            <a:off x="4574242" y="1483658"/>
            <a:ext cx="2286000" cy="5206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b="1" dirty="0">
                <a:solidFill>
                  <a:schemeClr val="tx1"/>
                </a:solidFill>
              </a:rPr>
              <a:t>FACT_CRYPTO_DAILY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fact_key</a:t>
            </a:r>
            <a:r>
              <a:rPr dirty="0">
                <a:solidFill>
                  <a:schemeClr val="tx1"/>
                </a:solidFill>
              </a:rPr>
              <a:t> (PK)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coin_key</a:t>
            </a:r>
            <a:r>
              <a:rPr dirty="0">
                <a:solidFill>
                  <a:schemeClr val="tx1"/>
                </a:solidFill>
              </a:rPr>
              <a:t> (FK)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date_key</a:t>
            </a:r>
            <a:r>
              <a:rPr dirty="0">
                <a:solidFill>
                  <a:schemeClr val="tx1"/>
                </a:solidFill>
              </a:rPr>
              <a:t> (FK)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coin_id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date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current_price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market_cap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market_cap_rank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total_volume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high_24h</a:t>
            </a:r>
          </a:p>
          <a:p>
            <a:r>
              <a:rPr dirty="0">
                <a:solidFill>
                  <a:schemeClr val="tx1"/>
                </a:solidFill>
              </a:rPr>
              <a:t>- low_24h</a:t>
            </a:r>
          </a:p>
          <a:p>
            <a:r>
              <a:rPr dirty="0">
                <a:solidFill>
                  <a:schemeClr val="tx1"/>
                </a:solidFill>
              </a:rPr>
              <a:t>- price_change_24h</a:t>
            </a:r>
          </a:p>
          <a:p>
            <a:r>
              <a:rPr dirty="0">
                <a:solidFill>
                  <a:schemeClr val="tx1"/>
                </a:solidFill>
              </a:rPr>
              <a:t>-price_change_percentage_24h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circulating_supply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total_supply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046D7-E72F-128B-3CCC-86E3E5942B34}"/>
              </a:ext>
            </a:extLst>
          </p:cNvPr>
          <p:cNvSpPr/>
          <p:nvPr/>
        </p:nvSpPr>
        <p:spPr>
          <a:xfrm>
            <a:off x="7413812" y="1483658"/>
            <a:ext cx="2286000" cy="32004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b="1" dirty="0">
                <a:solidFill>
                  <a:schemeClr val="tx1"/>
                </a:solidFill>
              </a:rPr>
              <a:t>DIM_DATE</a:t>
            </a:r>
            <a:endParaRPr lang="en-US" b="1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date_key</a:t>
            </a:r>
            <a:r>
              <a:rPr dirty="0">
                <a:solidFill>
                  <a:schemeClr val="tx1"/>
                </a:solidFill>
              </a:rPr>
              <a:t> (PK)</a:t>
            </a:r>
          </a:p>
          <a:p>
            <a:r>
              <a:rPr dirty="0">
                <a:solidFill>
                  <a:schemeClr val="tx1"/>
                </a:solidFill>
              </a:rPr>
              <a:t>- date</a:t>
            </a:r>
          </a:p>
          <a:p>
            <a:r>
              <a:rPr dirty="0">
                <a:solidFill>
                  <a:schemeClr val="tx1"/>
                </a:solidFill>
              </a:rPr>
              <a:t>- year</a:t>
            </a:r>
          </a:p>
          <a:p>
            <a:r>
              <a:rPr dirty="0">
                <a:solidFill>
                  <a:schemeClr val="tx1"/>
                </a:solidFill>
              </a:rPr>
              <a:t>- month</a:t>
            </a:r>
          </a:p>
          <a:p>
            <a:r>
              <a:rPr dirty="0">
                <a:solidFill>
                  <a:schemeClr val="tx1"/>
                </a:solidFill>
              </a:rPr>
              <a:t>- day</a:t>
            </a:r>
          </a:p>
          <a:p>
            <a:r>
              <a:rPr dirty="0">
                <a:solidFill>
                  <a:schemeClr val="tx1"/>
                </a:solidFill>
              </a:rPr>
              <a:t>- quarter</a:t>
            </a: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week_of_year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month_name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day_name</a:t>
            </a:r>
            <a:endParaRPr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- </a:t>
            </a:r>
            <a:r>
              <a:rPr err="1">
                <a:solidFill>
                  <a:schemeClr val="tx1"/>
                </a:solidFill>
              </a:rPr>
              <a:t>is_weekend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1D7FD8D0-F71D-F1B2-1CB8-D2805B12318A}"/>
              </a:ext>
            </a:extLst>
          </p:cNvPr>
          <p:cNvCxnSpPr/>
          <p:nvPr/>
        </p:nvCxnSpPr>
        <p:spPr>
          <a:xfrm>
            <a:off x="6860241" y="2799230"/>
            <a:ext cx="5423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6">
            <a:extLst>
              <a:ext uri="{FF2B5EF4-FFF2-40B4-BE49-F238E27FC236}">
                <a16:creationId xmlns:a16="http://schemas.microsoft.com/office/drawing/2014/main" id="{1ADEE24E-0480-0D5B-F258-078C37E014B2}"/>
              </a:ext>
            </a:extLst>
          </p:cNvPr>
          <p:cNvCxnSpPr/>
          <p:nvPr/>
        </p:nvCxnSpPr>
        <p:spPr>
          <a:xfrm flipH="1">
            <a:off x="3928783" y="2799230"/>
            <a:ext cx="62304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">
            <a:extLst>
              <a:ext uri="{FF2B5EF4-FFF2-40B4-BE49-F238E27FC236}">
                <a16:creationId xmlns:a16="http://schemas.microsoft.com/office/drawing/2014/main" id="{9AA24727-1649-FC68-FDD7-A0DF0A3C576D}"/>
              </a:ext>
            </a:extLst>
          </p:cNvPr>
          <p:cNvSpPr txBox="1"/>
          <p:nvPr/>
        </p:nvSpPr>
        <p:spPr>
          <a:xfrm>
            <a:off x="322729" y="498438"/>
            <a:ext cx="2265364" cy="52322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 Star Schema 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18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5FA34-A01B-073C-4EF6-FC6C7139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0751-7D63-494F-C106-8D1C51BC07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CB5B7-8536-EF45-4E7B-7628248BB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4D8338DB-231A-5A5F-CAD5-502ED41396B9}"/>
              </a:ext>
            </a:extLst>
          </p:cNvPr>
          <p:cNvSpPr/>
          <p:nvPr/>
        </p:nvSpPr>
        <p:spPr>
          <a:xfrm>
            <a:off x="219075" y="695771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06BAD7C-1EA2-148D-11D3-E7208CA38C20}"/>
              </a:ext>
            </a:extLst>
          </p:cNvPr>
          <p:cNvSpPr/>
          <p:nvPr/>
        </p:nvSpPr>
        <p:spPr>
          <a:xfrm>
            <a:off x="400050" y="695771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Data Source Integration</a:t>
            </a:r>
            <a:endParaRPr lang="en-US" sz="27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73309AE-6023-972F-AB77-0037F7AFFC2F}"/>
              </a:ext>
            </a:extLst>
          </p:cNvPr>
          <p:cNvSpPr/>
          <p:nvPr/>
        </p:nvSpPr>
        <p:spPr>
          <a:xfrm>
            <a:off x="400050" y="106724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API - Real-Time Cryptocurrency Data</a:t>
            </a:r>
            <a:endParaRPr lang="en-US" sz="975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6BE06F9-0315-46AD-5A0F-9EAAB7503256}"/>
              </a:ext>
            </a:extLst>
          </p:cNvPr>
          <p:cNvSpPr/>
          <p:nvPr/>
        </p:nvSpPr>
        <p:spPr>
          <a:xfrm>
            <a:off x="1938618" y="1843358"/>
            <a:ext cx="4133850" cy="1106537"/>
          </a:xfrm>
          <a:prstGeom prst="roundRect">
            <a:avLst>
              <a:gd name="adj" fmla="val 5165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E2506A1-7892-B75D-FAE9-308FD850F26B}"/>
              </a:ext>
            </a:extLst>
          </p:cNvPr>
          <p:cNvSpPr/>
          <p:nvPr/>
        </p:nvSpPr>
        <p:spPr>
          <a:xfrm>
            <a:off x="1957668" y="1843358"/>
            <a:ext cx="0" cy="110653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BB8486C-1F35-9BA4-B6DA-35C91C353337}"/>
              </a:ext>
            </a:extLst>
          </p:cNvPr>
          <p:cNvSpPr/>
          <p:nvPr/>
        </p:nvSpPr>
        <p:spPr>
          <a:xfrm>
            <a:off x="2091018" y="195765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10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10005E4-EA99-CF67-B511-7C62592193E1}"/>
              </a:ext>
            </a:extLst>
          </p:cNvPr>
          <p:cNvSpPr/>
          <p:nvPr/>
        </p:nvSpPr>
        <p:spPr>
          <a:xfrm>
            <a:off x="2091018" y="2151879"/>
            <a:ext cx="3867150" cy="234255"/>
          </a:xfrm>
          <a:prstGeom prst="roundRect">
            <a:avLst>
              <a:gd name="adj" fmla="val 12198"/>
            </a:avLst>
          </a:prstGeom>
          <a:solidFill>
            <a:srgbClr val="0F1F2E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DCF66B1-3444-1B53-1E01-E23D81921B88}"/>
              </a:ext>
            </a:extLst>
          </p:cNvPr>
          <p:cNvSpPr/>
          <p:nvPr/>
        </p:nvSpPr>
        <p:spPr>
          <a:xfrm>
            <a:off x="2148168" y="2209029"/>
            <a:ext cx="38279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api.coingecko.com/api/v3/coins/markets</a:t>
            </a:r>
            <a:endParaRPr lang="en-US" sz="100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E64C268-A77A-DAF5-AA90-5EB2C63CD18F}"/>
              </a:ext>
            </a:extLst>
          </p:cNvPr>
          <p:cNvSpPr/>
          <p:nvPr/>
        </p:nvSpPr>
        <p:spPr>
          <a:xfrm>
            <a:off x="2091018" y="243376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</a:t>
            </a:r>
            <a:endParaRPr lang="en-US" sz="100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F2672FC-C893-2235-A266-C74578D4CE08}"/>
              </a:ext>
            </a:extLst>
          </p:cNvPr>
          <p:cNvSpPr/>
          <p:nvPr/>
        </p:nvSpPr>
        <p:spPr>
          <a:xfrm>
            <a:off x="2091018" y="259568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vs_currency=usd, order=market_cap_desc</a:t>
            </a:r>
            <a:endParaRPr lang="en-US" sz="10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F33DEEE-861F-9052-4A91-562CA27EF269}"/>
              </a:ext>
            </a:extLst>
          </p:cNvPr>
          <p:cNvSpPr/>
          <p:nvPr/>
        </p:nvSpPr>
        <p:spPr>
          <a:xfrm>
            <a:off x="2091018" y="2715640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per_page=100, page=1</a:t>
            </a:r>
            <a:endParaRPr lang="en-US" sz="10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5020DFC7-8AC9-4993-CB22-7D71CF1C98A1}"/>
              </a:ext>
            </a:extLst>
          </p:cNvPr>
          <p:cNvSpPr/>
          <p:nvPr/>
        </p:nvSpPr>
        <p:spPr>
          <a:xfrm>
            <a:off x="1938618" y="3045146"/>
            <a:ext cx="4133850" cy="782687"/>
          </a:xfrm>
          <a:prstGeom prst="roundRect">
            <a:avLst>
              <a:gd name="adj" fmla="val 7302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924AB320-4FCE-3427-6275-026377DBDFFD}"/>
              </a:ext>
            </a:extLst>
          </p:cNvPr>
          <p:cNvSpPr/>
          <p:nvPr/>
        </p:nvSpPr>
        <p:spPr>
          <a:xfrm>
            <a:off x="1957668" y="3045146"/>
            <a:ext cx="0" cy="78268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6E0D04F2-55E8-73D0-DAB8-C7F805A31B21}"/>
              </a:ext>
            </a:extLst>
          </p:cNvPr>
          <p:cNvSpPr/>
          <p:nvPr/>
        </p:nvSpPr>
        <p:spPr>
          <a:xfrm>
            <a:off x="2091018" y="3159446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FIELDS</a:t>
            </a:r>
            <a:endParaRPr lang="en-US" sz="10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E3DB0B1-C7C1-9B82-5C84-021E1EF3D21E}"/>
              </a:ext>
            </a:extLst>
          </p:cNvPr>
          <p:cNvSpPr/>
          <p:nvPr/>
        </p:nvSpPr>
        <p:spPr>
          <a:xfrm>
            <a:off x="2091018" y="3353666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coin_id, symbol, name, current_price</a:t>
            </a:r>
            <a:endParaRPr lang="en-US" sz="10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3E2556B-4588-EF48-E53D-4FAE8271721E}"/>
              </a:ext>
            </a:extLst>
          </p:cNvPr>
          <p:cNvSpPr/>
          <p:nvPr/>
        </p:nvSpPr>
        <p:spPr>
          <a:xfrm>
            <a:off x="2091018" y="3473622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market_cap, total_volume, price_change_24h</a:t>
            </a:r>
            <a:endParaRPr lang="en-US" sz="10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F75AC57-BBC8-1702-C05B-D6255814E57E}"/>
              </a:ext>
            </a:extLst>
          </p:cNvPr>
          <p:cNvSpPr/>
          <p:nvPr/>
        </p:nvSpPr>
        <p:spPr>
          <a:xfrm>
            <a:off x="2091018" y="3593577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market_cap_rank, ath, atl, circulating_supply</a:t>
            </a:r>
            <a:endParaRPr lang="en-US" sz="100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F8E086E-5CF9-EF5D-0179-8A7597064400}"/>
              </a:ext>
            </a:extLst>
          </p:cNvPr>
          <p:cNvSpPr/>
          <p:nvPr/>
        </p:nvSpPr>
        <p:spPr>
          <a:xfrm>
            <a:off x="1938618" y="3923083"/>
            <a:ext cx="4133850" cy="839837"/>
          </a:xfrm>
          <a:prstGeom prst="roundRect">
            <a:avLst>
              <a:gd name="adj" fmla="val 6805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F4BBB412-C135-61CD-0B6F-FAF5A90B59F2}"/>
              </a:ext>
            </a:extLst>
          </p:cNvPr>
          <p:cNvSpPr/>
          <p:nvPr/>
        </p:nvSpPr>
        <p:spPr>
          <a:xfrm>
            <a:off x="1957668" y="3923083"/>
            <a:ext cx="0" cy="83983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743E8F09-5977-1D42-478B-A0CCCEA3BCC8}"/>
              </a:ext>
            </a:extLst>
          </p:cNvPr>
          <p:cNvSpPr/>
          <p:nvPr/>
        </p:nvSpPr>
        <p:spPr>
          <a:xfrm>
            <a:off x="2091018" y="4037383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8E0E683-CF6A-B96A-10AC-5E0E5EE555B2}"/>
              </a:ext>
            </a:extLst>
          </p:cNvPr>
          <p:cNvSpPr/>
          <p:nvPr/>
        </p:nvSpPr>
        <p:spPr>
          <a:xfrm>
            <a:off x="2091018" y="423160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CloudWatch scheduled (daily)</a:t>
            </a:r>
            <a:endParaRPr lang="en-US" sz="10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43F08E43-039D-C0AC-3503-D4D23811D05D}"/>
              </a:ext>
            </a:extLst>
          </p:cNvPr>
          <p:cNvSpPr/>
          <p:nvPr/>
        </p:nvSpPr>
        <p:spPr>
          <a:xfrm>
            <a:off x="2091018" y="438013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EventBridge (every 5 min)</a:t>
            </a:r>
            <a:endParaRPr lang="en-US" sz="100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E9A8660F-B6C3-C33D-A58A-068E351CE0E3}"/>
              </a:ext>
            </a:extLst>
          </p:cNvPr>
          <p:cNvSpPr/>
          <p:nvPr/>
        </p:nvSpPr>
        <p:spPr>
          <a:xfrm>
            <a:off x="2091018" y="452866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coins per API call</a:t>
            </a:r>
            <a:endParaRPr lang="en-US" sz="100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68A412D2-A292-9380-8D7C-3569F1149C62}"/>
              </a:ext>
            </a:extLst>
          </p:cNvPr>
          <p:cNvSpPr/>
          <p:nvPr/>
        </p:nvSpPr>
        <p:spPr>
          <a:xfrm>
            <a:off x="6186768" y="1843358"/>
            <a:ext cx="4133850" cy="2180779"/>
          </a:xfrm>
          <a:prstGeom prst="roundRect">
            <a:avLst>
              <a:gd name="adj" fmla="val 2621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23CA5338-6E81-4DD8-CCC7-0AD427EFF4C0}"/>
              </a:ext>
            </a:extLst>
          </p:cNvPr>
          <p:cNvSpPr/>
          <p:nvPr/>
        </p:nvSpPr>
        <p:spPr>
          <a:xfrm>
            <a:off x="6205818" y="1843358"/>
            <a:ext cx="0" cy="2180779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D8A36CEC-8F66-3110-904D-F9E4A31B8FE3}"/>
              </a:ext>
            </a:extLst>
          </p:cNvPr>
          <p:cNvSpPr/>
          <p:nvPr/>
        </p:nvSpPr>
        <p:spPr>
          <a:xfrm>
            <a:off x="6339168" y="195765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FORMATS</a:t>
            </a:r>
            <a:endParaRPr lang="en-US" sz="100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53FE6E2B-3443-0BBF-4622-DC97911F7714}"/>
              </a:ext>
            </a:extLst>
          </p:cNvPr>
          <p:cNvSpPr/>
          <p:nvPr/>
        </p:nvSpPr>
        <p:spPr>
          <a:xfrm>
            <a:off x="6339168" y="2151879"/>
            <a:ext cx="3867150" cy="554236"/>
          </a:xfrm>
          <a:prstGeom prst="roundRect">
            <a:avLst>
              <a:gd name="adj" fmla="val 6874"/>
            </a:avLst>
          </a:prstGeom>
          <a:solidFill>
            <a:srgbClr val="0F1F2E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774FF49-7FF0-0AEE-BC76-797A5DE8823F}"/>
              </a:ext>
            </a:extLst>
          </p:cNvPr>
          <p:cNvSpPr/>
          <p:nvPr/>
        </p:nvSpPr>
        <p:spPr>
          <a:xfrm>
            <a:off x="6415368" y="2228079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00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E82AA907-966B-46FF-96D7-B29306D51172}"/>
              </a:ext>
            </a:extLst>
          </p:cNvPr>
          <p:cNvSpPr/>
          <p:nvPr/>
        </p:nvSpPr>
        <p:spPr>
          <a:xfrm>
            <a:off x="6415368" y="2390004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JSON (raw from API)</a:t>
            </a:r>
            <a:endParaRPr lang="en-US" sz="100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2ACB6405-953F-968E-57FB-23AF5371BAA8}"/>
              </a:ext>
            </a:extLst>
          </p:cNvPr>
          <p:cNvSpPr/>
          <p:nvPr/>
        </p:nvSpPr>
        <p:spPr>
          <a:xfrm>
            <a:off x="6415368" y="2509960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transformation, full load</a:t>
            </a:r>
            <a:endParaRPr lang="en-US" sz="100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DC6208E2-1BD1-4D01-99C1-36B35C083490}"/>
              </a:ext>
            </a:extLst>
          </p:cNvPr>
          <p:cNvSpPr/>
          <p:nvPr/>
        </p:nvSpPr>
        <p:spPr>
          <a:xfrm>
            <a:off x="6339168" y="2753740"/>
            <a:ext cx="3867150" cy="554236"/>
          </a:xfrm>
          <a:prstGeom prst="roundRect">
            <a:avLst>
              <a:gd name="adj" fmla="val 6874"/>
            </a:avLst>
          </a:prstGeom>
          <a:solidFill>
            <a:srgbClr val="0F1F2E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F5196973-B9EC-4269-8BC4-9543380AF400}"/>
              </a:ext>
            </a:extLst>
          </p:cNvPr>
          <p:cNvSpPr/>
          <p:nvPr/>
        </p:nvSpPr>
        <p:spPr>
          <a:xfrm>
            <a:off x="6415368" y="2829940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LAYER</a:t>
            </a:r>
            <a:endParaRPr lang="en-US" sz="100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D04ABB74-7521-608B-0DDF-42595FEDF39C}"/>
              </a:ext>
            </a:extLst>
          </p:cNvPr>
          <p:cNvSpPr/>
          <p:nvPr/>
        </p:nvSpPr>
        <p:spPr>
          <a:xfrm>
            <a:off x="6415368" y="2991865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Format: Parquet (</a:t>
            </a:r>
            <a:r>
              <a:rPr lang="en-US" sz="1000">
                <a:solidFill>
                  <a:srgbClr val="E3F2FD"/>
                </a:solidFill>
                <a:ea typeface="+mn-lt"/>
                <a:cs typeface="+mn-lt"/>
              </a:rPr>
              <a:t>Snappy</a:t>
            </a:r>
            <a:r>
              <a:rPr lang="en-US" sz="100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805B0EF2-D3F1-D41B-2B3D-7C1648445FC8}"/>
              </a:ext>
            </a:extLst>
          </p:cNvPr>
          <p:cNvSpPr/>
          <p:nvPr/>
        </p:nvSpPr>
        <p:spPr>
          <a:xfrm>
            <a:off x="6415368" y="3111821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with bookmarks</a:t>
            </a:r>
            <a:endParaRPr lang="en-US" sz="1000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86B41547-62CB-6068-C0F8-0E612CC84CEC}"/>
              </a:ext>
            </a:extLst>
          </p:cNvPr>
          <p:cNvSpPr/>
          <p:nvPr/>
        </p:nvSpPr>
        <p:spPr>
          <a:xfrm>
            <a:off x="6339168" y="3355601"/>
            <a:ext cx="3867150" cy="554236"/>
          </a:xfrm>
          <a:prstGeom prst="roundRect">
            <a:avLst>
              <a:gd name="adj" fmla="val 6874"/>
            </a:avLst>
          </a:prstGeom>
          <a:solidFill>
            <a:srgbClr val="0F1F2E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5420AED2-40B8-473F-2088-573907F90DB0}"/>
              </a:ext>
            </a:extLst>
          </p:cNvPr>
          <p:cNvSpPr/>
          <p:nvPr/>
        </p:nvSpPr>
        <p:spPr>
          <a:xfrm>
            <a:off x="6415368" y="3431801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LAYER</a:t>
            </a:r>
            <a:endParaRPr lang="en-US" sz="1000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452A6864-8ADB-388C-5944-DDBF5020D6BB}"/>
              </a:ext>
            </a:extLst>
          </p:cNvPr>
          <p:cNvSpPr/>
          <p:nvPr/>
        </p:nvSpPr>
        <p:spPr>
          <a:xfrm>
            <a:off x="6415368" y="3593726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Parquet (optimized)</a:t>
            </a:r>
            <a:endParaRPr lang="en-US" sz="1000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45D84A36-2577-0403-FB4D-D31540482171}"/>
              </a:ext>
            </a:extLst>
          </p:cNvPr>
          <p:cNvSpPr/>
          <p:nvPr/>
        </p:nvSpPr>
        <p:spPr>
          <a:xfrm>
            <a:off x="6415368" y="3713682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Incremental, aggregated</a:t>
            </a:r>
            <a:endParaRPr lang="en-US" sz="1000"/>
          </a:p>
        </p:txBody>
      </p:sp>
      <p:pic>
        <p:nvPicPr>
          <p:cNvPr id="45" name="Image 0">
            <a:extLst>
              <a:ext uri="{FF2B5EF4-FFF2-40B4-BE49-F238E27FC236}">
                <a16:creationId xmlns:a16="http://schemas.microsoft.com/office/drawing/2014/main" id="{EF223620-D3B4-62DE-A51A-8D5633F7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768" y="4119387"/>
            <a:ext cx="4133850" cy="912168"/>
          </a:xfrm>
          <a:prstGeom prst="rect">
            <a:avLst/>
          </a:prstGeom>
        </p:spPr>
      </p:pic>
      <p:sp>
        <p:nvSpPr>
          <p:cNvPr id="46" name="Text 38">
            <a:extLst>
              <a:ext uri="{FF2B5EF4-FFF2-40B4-BE49-F238E27FC236}">
                <a16:creationId xmlns:a16="http://schemas.microsoft.com/office/drawing/2014/main" id="{AD66F5B2-32C1-0C34-545A-FA71B58365F3}"/>
              </a:ext>
            </a:extLst>
          </p:cNvPr>
          <p:cNvSpPr/>
          <p:nvPr/>
        </p:nvSpPr>
        <p:spPr>
          <a:xfrm>
            <a:off x="6301068" y="423368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CHARACTERISTICS</a:t>
            </a:r>
            <a:endParaRPr lang="en-US" sz="1000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2A8E56B3-7CC6-87AF-B01B-DE08233D85C3}"/>
              </a:ext>
            </a:extLst>
          </p:cNvPr>
          <p:cNvSpPr/>
          <p:nvPr/>
        </p:nvSpPr>
        <p:spPr>
          <a:xfrm>
            <a:off x="6301068" y="443743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cryptocurrencies per extraction</a:t>
            </a:r>
            <a:endParaRPr lang="en-US" sz="10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7BD2FADF-87DA-79DE-7170-0E982F8E4C3C}"/>
              </a:ext>
            </a:extLst>
          </p:cNvPr>
          <p:cNvSpPr/>
          <p:nvPr/>
        </p:nvSpPr>
        <p:spPr>
          <a:xfrm>
            <a:off x="6301068" y="4557388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2-3KB per coin (JSON format)</a:t>
            </a:r>
            <a:endParaRPr lang="en-US" sz="1000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036AB234-22DB-61CB-F234-88EF29BAA823}"/>
              </a:ext>
            </a:extLst>
          </p:cNvPr>
          <p:cNvSpPr/>
          <p:nvPr/>
        </p:nvSpPr>
        <p:spPr>
          <a:xfrm>
            <a:off x="6301068" y="467734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 compression with Parquet</a:t>
            </a:r>
            <a:endParaRPr lang="en-US" sz="1000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23A9E233-06F8-5197-CF57-40CC16FEAB45}"/>
              </a:ext>
            </a:extLst>
          </p:cNvPr>
          <p:cNvSpPr/>
          <p:nvPr/>
        </p:nvSpPr>
        <p:spPr>
          <a:xfrm>
            <a:off x="6301068" y="4797299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batch: 300KB raw to 90KB compressed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15024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CEE95-EA81-6687-A4FD-9E522388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ADA00-E327-E006-AE41-A977973200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29DA7C-0C4C-4F58-BD0A-61F8F425A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73E14160-29D6-097D-A3E8-2082BFEE8DFC}"/>
              </a:ext>
            </a:extLst>
          </p:cNvPr>
          <p:cNvSpPr/>
          <p:nvPr/>
        </p:nvSpPr>
        <p:spPr>
          <a:xfrm>
            <a:off x="219075" y="513457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B1E8F8B-6929-AE86-0064-590737DEF5A0}"/>
              </a:ext>
            </a:extLst>
          </p:cNvPr>
          <p:cNvSpPr/>
          <p:nvPr/>
        </p:nvSpPr>
        <p:spPr>
          <a:xfrm>
            <a:off x="400050" y="51345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Medallion Architecture</a:t>
            </a:r>
            <a:endParaRPr lang="en-US" sz="2700">
              <a:solidFill>
                <a:srgbClr val="00206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081A7B6-E6A8-4CAD-85C9-4C0287B014C2}"/>
              </a:ext>
            </a:extLst>
          </p:cNvPr>
          <p:cNvSpPr/>
          <p:nvPr/>
        </p:nvSpPr>
        <p:spPr>
          <a:xfrm>
            <a:off x="400050" y="88493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 Data Layers</a:t>
            </a:r>
            <a:endParaRPr lang="en-US" sz="975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E13CC0D-7EF3-6405-178F-0BCD2FFBDDBC}"/>
              </a:ext>
            </a:extLst>
          </p:cNvPr>
          <p:cNvSpPr/>
          <p:nvPr/>
        </p:nvSpPr>
        <p:spPr>
          <a:xfrm>
            <a:off x="2095500" y="1717074"/>
            <a:ext cx="8382000" cy="847725"/>
          </a:xfrm>
          <a:prstGeom prst="roundRect">
            <a:avLst>
              <a:gd name="adj" fmla="val 6742"/>
            </a:avLst>
          </a:prstGeom>
          <a:solidFill>
            <a:srgbClr val="2D241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40743A1-3ADC-D331-19C6-80F5B36B2C0B}"/>
              </a:ext>
            </a:extLst>
          </p:cNvPr>
          <p:cNvSpPr/>
          <p:nvPr/>
        </p:nvSpPr>
        <p:spPr>
          <a:xfrm>
            <a:off x="2114550" y="1717074"/>
            <a:ext cx="0" cy="847725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31F1B67-9D8C-ABFF-CBB9-160E41C0B637}"/>
              </a:ext>
            </a:extLst>
          </p:cNvPr>
          <p:cNvSpPr/>
          <p:nvPr/>
        </p:nvSpPr>
        <p:spPr>
          <a:xfrm>
            <a:off x="2247900" y="1831374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BRONZE LAYER</a:t>
            </a:r>
            <a:endParaRPr lang="en-US" sz="10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441BB14-2765-C7E3-8400-34014DE964DA}"/>
              </a:ext>
            </a:extLst>
          </p:cNvPr>
          <p:cNvSpPr/>
          <p:nvPr/>
        </p:nvSpPr>
        <p:spPr>
          <a:xfrm>
            <a:off x="2247900" y="2033185"/>
            <a:ext cx="19431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Ingestion</a:t>
            </a:r>
            <a:endParaRPr lang="en-US" sz="10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36F8F69-8E77-046A-29DD-EC310F0C1040}"/>
              </a:ext>
            </a:extLst>
          </p:cNvPr>
          <p:cNvSpPr/>
          <p:nvPr/>
        </p:nvSpPr>
        <p:spPr>
          <a:xfrm>
            <a:off x="4267200" y="183137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JSON from CoinGecko API, no transformations</a:t>
            </a:r>
            <a:endParaRPr lang="en-US" sz="100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B274238-F55E-05CA-424F-4C0DF9385A8D}"/>
              </a:ext>
            </a:extLst>
          </p:cNvPr>
          <p:cNvSpPr/>
          <p:nvPr/>
        </p:nvSpPr>
        <p:spPr>
          <a:xfrm>
            <a:off x="4267200" y="199329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Type: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load (overwrites existing data daily)</a:t>
            </a:r>
            <a:endParaRPr lang="en-US" sz="100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38FB78D-F4BA-1B0C-0FAC-A04B953B0AB4}"/>
              </a:ext>
            </a:extLst>
          </p:cNvPr>
          <p:cNvSpPr/>
          <p:nvPr/>
        </p:nvSpPr>
        <p:spPr>
          <a:xfrm>
            <a:off x="4267200" y="215522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files stored in S3</a:t>
            </a:r>
            <a:endParaRPr lang="en-US" sz="10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A337ABA-390A-43BB-B439-F891710D31AC}"/>
              </a:ext>
            </a:extLst>
          </p:cNvPr>
          <p:cNvSpPr/>
          <p:nvPr/>
        </p:nvSpPr>
        <p:spPr>
          <a:xfrm>
            <a:off x="4267200" y="231714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CD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 - stores everything as received from API</a:t>
            </a:r>
            <a:endParaRPr lang="en-US" sz="10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2162CAA-7E19-2833-48BA-1DECEC0DB295}"/>
              </a:ext>
            </a:extLst>
          </p:cNvPr>
          <p:cNvSpPr/>
          <p:nvPr/>
        </p:nvSpPr>
        <p:spPr>
          <a:xfrm>
            <a:off x="2095500" y="2660049"/>
            <a:ext cx="8382000" cy="847725"/>
          </a:xfrm>
          <a:prstGeom prst="roundRect">
            <a:avLst>
              <a:gd name="adj" fmla="val 6742"/>
            </a:avLst>
          </a:prstGeom>
          <a:solidFill>
            <a:srgbClr val="1E283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E768699-0B05-D723-48C7-62CFC16B1149}"/>
              </a:ext>
            </a:extLst>
          </p:cNvPr>
          <p:cNvSpPr/>
          <p:nvPr/>
        </p:nvSpPr>
        <p:spPr>
          <a:xfrm>
            <a:off x="2114550" y="2660049"/>
            <a:ext cx="0" cy="847725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E7CC29B-A9C2-8604-DE7D-85E4000472C1}"/>
              </a:ext>
            </a:extLst>
          </p:cNvPr>
          <p:cNvSpPr/>
          <p:nvPr/>
        </p:nvSpPr>
        <p:spPr>
          <a:xfrm>
            <a:off x="2247900" y="2774349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SILVER LAYER</a:t>
            </a:r>
            <a:endParaRPr lang="en-US" sz="10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11692A2-7187-E4CC-96FE-AA71C0BD560A}"/>
              </a:ext>
            </a:extLst>
          </p:cNvPr>
          <p:cNvSpPr/>
          <p:nvPr/>
        </p:nvSpPr>
        <p:spPr>
          <a:xfrm>
            <a:off x="2247900" y="2976160"/>
            <a:ext cx="19431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Validated</a:t>
            </a:r>
            <a:endParaRPr lang="en-US" sz="10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C7B38FDB-F0E7-0603-8980-28417139E173}"/>
              </a:ext>
            </a:extLst>
          </p:cNvPr>
          <p:cNvSpPr/>
          <p:nvPr/>
        </p:nvSpPr>
        <p:spPr>
          <a:xfrm>
            <a:off x="4267200" y="277434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Cleaned, deduplicated, validated data</a:t>
            </a:r>
            <a:endParaRPr lang="en-US" sz="10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076D597-0B9A-4599-4E02-6EB8DC9C1223}"/>
              </a:ext>
            </a:extLst>
          </p:cNvPr>
          <p:cNvSpPr/>
          <p:nvPr/>
        </p:nvSpPr>
        <p:spPr>
          <a:xfrm>
            <a:off x="4267200" y="293627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Type: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Incremental with Glue bookmarks (timestamp-based)</a:t>
            </a:r>
            <a:endParaRPr lang="en-US" sz="100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FC527E0-6B28-77BF-DA9D-6E30F1779A44}"/>
              </a:ext>
            </a:extLst>
          </p:cNvPr>
          <p:cNvSpPr/>
          <p:nvPr/>
        </p:nvSpPr>
        <p:spPr>
          <a:xfrm>
            <a:off x="4267200" y="309819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Parquet (compressed, columnar storage)</a:t>
            </a:r>
            <a:endParaRPr lang="en-US" sz="100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21A14A3-1041-67BC-8860-DC454245A198}"/>
              </a:ext>
            </a:extLst>
          </p:cNvPr>
          <p:cNvSpPr/>
          <p:nvPr/>
        </p:nvSpPr>
        <p:spPr>
          <a:xfrm>
            <a:off x="4267200" y="326012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nulls, handle missing fields, add metadata columns (ingestion_date, processing_time)</a:t>
            </a:r>
            <a:endParaRPr lang="en-US" sz="10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E15AEE3C-A2ED-A4F1-822A-BB7195162C94}"/>
              </a:ext>
            </a:extLst>
          </p:cNvPr>
          <p:cNvSpPr/>
          <p:nvPr/>
        </p:nvSpPr>
        <p:spPr>
          <a:xfrm>
            <a:off x="2095500" y="3603024"/>
            <a:ext cx="8382000" cy="847725"/>
          </a:xfrm>
          <a:prstGeom prst="roundRect">
            <a:avLst>
              <a:gd name="adj" fmla="val 6742"/>
            </a:avLst>
          </a:prstGeom>
          <a:solidFill>
            <a:srgbClr val="2D2616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E8D28413-D008-29B2-02BB-43CD57F06726}"/>
              </a:ext>
            </a:extLst>
          </p:cNvPr>
          <p:cNvSpPr/>
          <p:nvPr/>
        </p:nvSpPr>
        <p:spPr>
          <a:xfrm>
            <a:off x="2114550" y="3603024"/>
            <a:ext cx="0" cy="847725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205F799-62BB-D915-98D9-8344B4FD2D94}"/>
              </a:ext>
            </a:extLst>
          </p:cNvPr>
          <p:cNvSpPr/>
          <p:nvPr/>
        </p:nvSpPr>
        <p:spPr>
          <a:xfrm>
            <a:off x="2247900" y="3717324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GOLD LAYER</a:t>
            </a:r>
            <a:endParaRPr lang="en-US" sz="100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83BC4C90-47B6-21A6-1F94-492EC7E2A6B1}"/>
              </a:ext>
            </a:extLst>
          </p:cNvPr>
          <p:cNvSpPr/>
          <p:nvPr/>
        </p:nvSpPr>
        <p:spPr>
          <a:xfrm>
            <a:off x="2247900" y="3919135"/>
            <a:ext cx="19431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</a:t>
            </a:r>
            <a:endParaRPr lang="en-US" sz="100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E2839EC-F463-C462-982F-B156BCC7FAC1}"/>
              </a:ext>
            </a:extLst>
          </p:cNvPr>
          <p:cNvSpPr/>
          <p:nvPr/>
        </p:nvSpPr>
        <p:spPr>
          <a:xfrm>
            <a:off x="4267200" y="371732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Business-ready aggregated metrics and analytics</a:t>
            </a:r>
            <a:endParaRPr lang="en-US" sz="100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7CD0FC9A-6996-685D-6D42-DE10D2DAA1DC}"/>
              </a:ext>
            </a:extLst>
          </p:cNvPr>
          <p:cNvSpPr/>
          <p:nvPr/>
        </p:nvSpPr>
        <p:spPr>
          <a:xfrm>
            <a:off x="4267200" y="387924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Type: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Incremental updates based on Silver changes</a:t>
            </a:r>
            <a:endParaRPr lang="en-US" sz="100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0E990DDB-ED26-074D-FD39-A7B5A73CF716}"/>
              </a:ext>
            </a:extLst>
          </p:cNvPr>
          <p:cNvSpPr/>
          <p:nvPr/>
        </p:nvSpPr>
        <p:spPr>
          <a:xfrm>
            <a:off x="4267200" y="404117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Parquet (optimized for QuickSight queries)</a:t>
            </a:r>
            <a:endParaRPr lang="en-US" sz="100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6218A59F-8985-2AEB-412B-EE515E8DC6C5}"/>
              </a:ext>
            </a:extLst>
          </p:cNvPr>
          <p:cNvSpPr/>
          <p:nvPr/>
        </p:nvSpPr>
        <p:spPr>
          <a:xfrm>
            <a:off x="4267200" y="420309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Aggregate metrics, price trends, market cap rankings, 24h change calculations</a:t>
            </a:r>
            <a:endParaRPr lang="en-US" sz="100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CFBBC7F0-E9AD-0326-41E1-9869276F0D8A}"/>
              </a:ext>
            </a:extLst>
          </p:cNvPr>
          <p:cNvSpPr/>
          <p:nvPr/>
        </p:nvSpPr>
        <p:spPr>
          <a:xfrm>
            <a:off x="2095500" y="4545999"/>
            <a:ext cx="8382000" cy="723900"/>
          </a:xfrm>
          <a:prstGeom prst="roundRect">
            <a:avLst>
              <a:gd name="adj" fmla="val 7895"/>
            </a:avLst>
          </a:prstGeom>
          <a:solidFill>
            <a:srgbClr val="1A2942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E0184D2E-BCB3-D0B3-6A03-7958AA237FE3}"/>
              </a:ext>
            </a:extLst>
          </p:cNvPr>
          <p:cNvSpPr/>
          <p:nvPr/>
        </p:nvSpPr>
        <p:spPr>
          <a:xfrm>
            <a:off x="2228850" y="4679349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QUALITY</a:t>
            </a:r>
            <a:endParaRPr lang="en-US" sz="100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026D4FD1-49E8-8075-2BE0-8377AF761928}"/>
              </a:ext>
            </a:extLst>
          </p:cNvPr>
          <p:cNvSpPr/>
          <p:nvPr/>
        </p:nvSpPr>
        <p:spPr>
          <a:xfrm>
            <a:off x="2228850" y="4881160"/>
            <a:ext cx="19431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DQDL Framework</a:t>
            </a:r>
            <a:endParaRPr lang="en-US" sz="1000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93D043AF-79C0-612B-7DCA-23BEB9A3F6F0}"/>
              </a:ext>
            </a:extLst>
          </p:cNvPr>
          <p:cNvSpPr/>
          <p:nvPr/>
        </p:nvSpPr>
        <p:spPr>
          <a:xfrm>
            <a:off x="4248150" y="467934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Completeness (no null IDs), Uniqueness (no duplicate coins), Data type checks</a:t>
            </a:r>
            <a:endParaRPr lang="en-US" sz="100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F1344DB2-AA5D-1CA0-DEC1-7C90B19A1766}"/>
              </a:ext>
            </a:extLst>
          </p:cNvPr>
          <p:cNvSpPr/>
          <p:nvPr/>
        </p:nvSpPr>
        <p:spPr>
          <a:xfrm>
            <a:off x="4248150" y="4841274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At: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Silver layer via dedicated DQDL Glue job</a:t>
            </a:r>
            <a:endParaRPr lang="en-US" sz="100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D5D0AC-54AB-DF47-946A-16EFCA7D7CF0}"/>
              </a:ext>
            </a:extLst>
          </p:cNvPr>
          <p:cNvSpPr/>
          <p:nvPr/>
        </p:nvSpPr>
        <p:spPr>
          <a:xfrm>
            <a:off x="4248150" y="5003199"/>
            <a:ext cx="6217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on Failure: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 errors to CloudWatch, store bad records in S3, continue processing good data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26875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CF95-4BCE-86D6-A23F-95D692D9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162D5-718A-CC2F-AED3-1FC1CF9399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1F2C0A-9AE1-5013-DB53-24B6B866A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8F27D7DA-DEFC-C3A1-5E98-6313814709B0}"/>
              </a:ext>
            </a:extLst>
          </p:cNvPr>
          <p:cNvSpPr/>
          <p:nvPr/>
        </p:nvSpPr>
        <p:spPr>
          <a:xfrm>
            <a:off x="219075" y="759172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3773EF2C-96D2-8EEA-ED4E-C167FFFDD358}"/>
              </a:ext>
            </a:extLst>
          </p:cNvPr>
          <p:cNvSpPr/>
          <p:nvPr/>
        </p:nvSpPr>
        <p:spPr>
          <a:xfrm>
            <a:off x="400050" y="759172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Data Quality &amp; Testing</a:t>
            </a:r>
            <a:endParaRPr lang="en-US" sz="2700">
              <a:solidFill>
                <a:srgbClr val="00206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D14ECD3-7490-EF0A-A6E1-FD43A06F078E}"/>
              </a:ext>
            </a:extLst>
          </p:cNvPr>
          <p:cNvSpPr/>
          <p:nvPr/>
        </p:nvSpPr>
        <p:spPr>
          <a:xfrm>
            <a:off x="400050" y="1130647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DQDL Framework - Ensuring 99%+ Data Accuracy</a:t>
            </a:r>
            <a:endParaRPr lang="en-US" sz="975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1EDEEE1-EF78-90A8-9890-56256489BA54}"/>
              </a:ext>
            </a:extLst>
          </p:cNvPr>
          <p:cNvSpPr/>
          <p:nvPr/>
        </p:nvSpPr>
        <p:spPr>
          <a:xfrm>
            <a:off x="1949824" y="1895554"/>
            <a:ext cx="4133850" cy="921990"/>
          </a:xfrm>
          <a:prstGeom prst="roundRect">
            <a:avLst>
              <a:gd name="adj" fmla="val 619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5F53EDA9-F126-BB18-9F95-8E7EA5B63804}"/>
              </a:ext>
            </a:extLst>
          </p:cNvPr>
          <p:cNvSpPr/>
          <p:nvPr/>
        </p:nvSpPr>
        <p:spPr>
          <a:xfrm>
            <a:off x="1968874" y="1895554"/>
            <a:ext cx="0" cy="9219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3586FAA-B426-4359-6381-3149FBD886A9}"/>
              </a:ext>
            </a:extLst>
          </p:cNvPr>
          <p:cNvSpPr/>
          <p:nvPr/>
        </p:nvSpPr>
        <p:spPr>
          <a:xfrm>
            <a:off x="2102224" y="2009854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FRAMEWORK</a:t>
            </a:r>
            <a:endParaRPr lang="en-US" sz="10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EAA312C-76AB-1D44-0C57-9D7DC2EC0B5B}"/>
              </a:ext>
            </a:extLst>
          </p:cNvPr>
          <p:cNvSpPr/>
          <p:nvPr/>
        </p:nvSpPr>
        <p:spPr>
          <a:xfrm>
            <a:off x="2102224" y="222699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Glue DQDL (Data Quality Definition Language)</a:t>
            </a:r>
            <a:endParaRPr lang="en-US" sz="100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13A79A79-AF3D-FA2D-F4F0-BF8526A334B8}"/>
              </a:ext>
            </a:extLst>
          </p:cNvPr>
          <p:cNvSpPr/>
          <p:nvPr/>
        </p:nvSpPr>
        <p:spPr>
          <a:xfrm>
            <a:off x="2102224" y="239844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into AWS Glue, no external libraries</a:t>
            </a:r>
            <a:endParaRPr lang="en-US" sz="10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DBCE204-A7E3-8580-00A6-DB3893380486}"/>
              </a:ext>
            </a:extLst>
          </p:cNvPr>
          <p:cNvSpPr/>
          <p:nvPr/>
        </p:nvSpPr>
        <p:spPr>
          <a:xfrm>
            <a:off x="2102224" y="256989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Dedicated DQDL Glue job in batch pipeline</a:t>
            </a:r>
            <a:endParaRPr lang="en-US" sz="100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E7EA2D8-4F08-AB76-BF67-F5154A81C18B}"/>
              </a:ext>
            </a:extLst>
          </p:cNvPr>
          <p:cNvSpPr/>
          <p:nvPr/>
        </p:nvSpPr>
        <p:spPr>
          <a:xfrm>
            <a:off x="1949824" y="2912794"/>
            <a:ext cx="4133850" cy="1064865"/>
          </a:xfrm>
          <a:prstGeom prst="roundRect">
            <a:avLst>
              <a:gd name="adj" fmla="val 5367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2915E79A-9C02-4331-EA37-755A7302F4EF}"/>
              </a:ext>
            </a:extLst>
          </p:cNvPr>
          <p:cNvSpPr/>
          <p:nvPr/>
        </p:nvSpPr>
        <p:spPr>
          <a:xfrm>
            <a:off x="1968874" y="2912794"/>
            <a:ext cx="0" cy="106486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CCB77AE-B164-BCBB-BF2F-149569281F8D}"/>
              </a:ext>
            </a:extLst>
          </p:cNvPr>
          <p:cNvSpPr/>
          <p:nvPr/>
        </p:nvSpPr>
        <p:spPr>
          <a:xfrm>
            <a:off x="2102224" y="3027094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00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E8B9A21B-5889-2A6D-D955-8F587FF0B807}"/>
              </a:ext>
            </a:extLst>
          </p:cNvPr>
          <p:cNvSpPr/>
          <p:nvPr/>
        </p:nvSpPr>
        <p:spPr>
          <a:xfrm>
            <a:off x="2102224" y="324423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coin_id, symbol, name must not be null</a:t>
            </a:r>
            <a:endParaRPr lang="en-US" sz="100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26F15E8-5AEB-37D3-5406-4AF618BDC2B3}"/>
              </a:ext>
            </a:extLst>
          </p:cNvPr>
          <p:cNvSpPr/>
          <p:nvPr/>
        </p:nvSpPr>
        <p:spPr>
          <a:xfrm>
            <a:off x="2102224" y="340616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duplicate coin_id in single batch</a:t>
            </a:r>
            <a:endParaRPr lang="en-US" sz="100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E21FF56-9D69-C186-606C-7C328B737293}"/>
              </a:ext>
            </a:extLst>
          </p:cNvPr>
          <p:cNvSpPr/>
          <p:nvPr/>
        </p:nvSpPr>
        <p:spPr>
          <a:xfrm>
            <a:off x="2102224" y="356808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Numeric fields validated (price, market_cap)</a:t>
            </a:r>
            <a:endParaRPr lang="en-US" sz="100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0A85A800-9BFF-BBA0-BEC7-567DAA65EEBC}"/>
              </a:ext>
            </a:extLst>
          </p:cNvPr>
          <p:cNvSpPr/>
          <p:nvPr/>
        </p:nvSpPr>
        <p:spPr>
          <a:xfrm>
            <a:off x="2102224" y="373001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Checks: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Prices must be positive, realistic values</a:t>
            </a:r>
            <a:endParaRPr lang="en-US" sz="100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0B79161-D559-A607-EC19-43BD1B9D7FFE}"/>
              </a:ext>
            </a:extLst>
          </p:cNvPr>
          <p:cNvSpPr/>
          <p:nvPr/>
        </p:nvSpPr>
        <p:spPr>
          <a:xfrm>
            <a:off x="1949824" y="4072910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06311621-E9E2-3155-7017-AF7F74B96EE6}"/>
              </a:ext>
            </a:extLst>
          </p:cNvPr>
          <p:cNvSpPr/>
          <p:nvPr/>
        </p:nvSpPr>
        <p:spPr>
          <a:xfrm>
            <a:off x="1968874" y="4072910"/>
            <a:ext cx="0" cy="9029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78C77DAA-0DED-413D-886C-C7578A988E42}"/>
              </a:ext>
            </a:extLst>
          </p:cNvPr>
          <p:cNvSpPr/>
          <p:nvPr/>
        </p:nvSpPr>
        <p:spPr>
          <a:xfrm>
            <a:off x="2102224" y="4187210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DQDL GLUE JOB</a:t>
            </a:r>
            <a:endParaRPr lang="en-US" sz="100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D06D1DFD-4149-592D-C1BD-3E3A235038C6}"/>
              </a:ext>
            </a:extLst>
          </p:cNvPr>
          <p:cNvSpPr/>
          <p:nvPr/>
        </p:nvSpPr>
        <p:spPr>
          <a:xfrm>
            <a:off x="2102224" y="44043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Runs as 3rd job in Step Functions workflow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9200F9B0-CBB4-2989-41D0-E40E3DAFB7A4}"/>
              </a:ext>
            </a:extLst>
          </p:cNvPr>
          <p:cNvSpPr/>
          <p:nvPr/>
        </p:nvSpPr>
        <p:spPr>
          <a:xfrm>
            <a:off x="2102224" y="4566275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Silver layer data before Gold aggregation</a:t>
            </a:r>
            <a:endParaRPr lang="en-US" sz="100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1F2EFDD-CD4C-CCDB-EC49-1D775DD0AF18}"/>
              </a:ext>
            </a:extLst>
          </p:cNvPr>
          <p:cNvSpPr/>
          <p:nvPr/>
        </p:nvSpPr>
        <p:spPr>
          <a:xfrm>
            <a:off x="2102224" y="47282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quality metrics and reports</a:t>
            </a:r>
            <a:endParaRPr lang="en-US" sz="100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7AEC70CF-14D2-F08E-22A4-EE26A85A4F30}"/>
              </a:ext>
            </a:extLst>
          </p:cNvPr>
          <p:cNvSpPr/>
          <p:nvPr/>
        </p:nvSpPr>
        <p:spPr>
          <a:xfrm>
            <a:off x="6197974" y="1895554"/>
            <a:ext cx="4133850" cy="1093440"/>
          </a:xfrm>
          <a:prstGeom prst="roundRect">
            <a:avLst>
              <a:gd name="adj" fmla="val 5227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17635DDF-C3A0-9585-6350-FA8C8E8835CA}"/>
              </a:ext>
            </a:extLst>
          </p:cNvPr>
          <p:cNvSpPr/>
          <p:nvPr/>
        </p:nvSpPr>
        <p:spPr>
          <a:xfrm>
            <a:off x="6217024" y="1895554"/>
            <a:ext cx="0" cy="10934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A6CAB52-209E-F3F5-3175-332EECF0F640}"/>
              </a:ext>
            </a:extLst>
          </p:cNvPr>
          <p:cNvSpPr/>
          <p:nvPr/>
        </p:nvSpPr>
        <p:spPr>
          <a:xfrm>
            <a:off x="6350374" y="2009854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00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A41A48FA-AFE1-0EF5-32A4-5CE147DB3F45}"/>
              </a:ext>
            </a:extLst>
          </p:cNvPr>
          <p:cNvSpPr/>
          <p:nvPr/>
        </p:nvSpPr>
        <p:spPr>
          <a:xfrm>
            <a:off x="6350374" y="222699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Records: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Logged to CloudWatch with details</a:t>
            </a:r>
            <a:endParaRPr lang="en-US" sz="100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6CC0369D-B994-1802-7E59-927686029833}"/>
              </a:ext>
            </a:extLst>
          </p:cNvPr>
          <p:cNvSpPr/>
          <p:nvPr/>
        </p:nvSpPr>
        <p:spPr>
          <a:xfrm>
            <a:off x="6350374" y="239844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Data (Batch):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Stored in separate S3 bucket for review</a:t>
            </a:r>
            <a:endParaRPr lang="en-US" sz="1000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5B0493F0-10E2-9E99-7820-27EFB1667185}"/>
              </a:ext>
            </a:extLst>
          </p:cNvPr>
          <p:cNvSpPr/>
          <p:nvPr/>
        </p:nvSpPr>
        <p:spPr>
          <a:xfrm>
            <a:off x="6350374" y="256989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DLQ (Streaming):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SQS captures streaming pipeline failures</a:t>
            </a:r>
            <a:endParaRPr lang="en-US" sz="100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290CE0B2-D9CF-A6CA-8573-94D782439359}"/>
              </a:ext>
            </a:extLst>
          </p:cNvPr>
          <p:cNvSpPr/>
          <p:nvPr/>
        </p:nvSpPr>
        <p:spPr>
          <a:xfrm>
            <a:off x="6350374" y="274134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 with valid data, don't halt pipeline</a:t>
            </a:r>
            <a:endParaRPr lang="en-US" sz="1000"/>
          </a:p>
        </p:txBody>
      </p:sp>
      <p:pic>
        <p:nvPicPr>
          <p:cNvPr id="43" name="Image 0">
            <a:extLst>
              <a:ext uri="{FF2B5EF4-FFF2-40B4-BE49-F238E27FC236}">
                <a16:creationId xmlns:a16="http://schemas.microsoft.com/office/drawing/2014/main" id="{430DE135-AEDD-19DB-7AA2-80824A76A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974" y="3084244"/>
            <a:ext cx="4133850" cy="1226790"/>
          </a:xfrm>
          <a:prstGeom prst="rect">
            <a:avLst/>
          </a:prstGeom>
        </p:spPr>
      </p:pic>
      <p:sp>
        <p:nvSpPr>
          <p:cNvPr id="44" name="Text 29">
            <a:extLst>
              <a:ext uri="{FF2B5EF4-FFF2-40B4-BE49-F238E27FC236}">
                <a16:creationId xmlns:a16="http://schemas.microsoft.com/office/drawing/2014/main" id="{E12505E8-4225-3D10-7B2C-22625264986A}"/>
              </a:ext>
            </a:extLst>
          </p:cNvPr>
          <p:cNvSpPr/>
          <p:nvPr/>
        </p:nvSpPr>
        <p:spPr>
          <a:xfrm>
            <a:off x="6312274" y="3198544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00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AFEEBB38-5371-0021-2244-54278EB48A8D}"/>
              </a:ext>
            </a:extLst>
          </p:cNvPr>
          <p:cNvSpPr/>
          <p:nvPr/>
        </p:nvSpPr>
        <p:spPr>
          <a:xfrm>
            <a:off x="6312274" y="341568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99%+ data accuracy achieved</a:t>
            </a:r>
            <a:endParaRPr lang="en-US" sz="1000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E2E42F9B-BD37-F8B3-39ED-15E854B64A6A}"/>
              </a:ext>
            </a:extLst>
          </p:cNvPr>
          <p:cNvSpPr/>
          <p:nvPr/>
        </p:nvSpPr>
        <p:spPr>
          <a:xfrm>
            <a:off x="6312274" y="357761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validation on every batch run</a:t>
            </a:r>
            <a:endParaRPr lang="en-US" sz="1000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D47C1353-4A56-1EC7-2B31-DDB3A31D8BFE}"/>
              </a:ext>
            </a:extLst>
          </p:cNvPr>
          <p:cNvSpPr/>
          <p:nvPr/>
        </p:nvSpPr>
        <p:spPr>
          <a:xfrm>
            <a:off x="6312274" y="373953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alerts via SNS for critical failures</a:t>
            </a:r>
            <a:endParaRPr lang="en-US" sz="100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8C92821A-A669-3167-11EA-EE00B4F56CC7}"/>
              </a:ext>
            </a:extLst>
          </p:cNvPr>
          <p:cNvSpPr/>
          <p:nvPr/>
        </p:nvSpPr>
        <p:spPr>
          <a:xfrm>
            <a:off x="6312274" y="390146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manual intervention required</a:t>
            </a:r>
            <a:endParaRPr lang="en-US" sz="1000"/>
          </a:p>
        </p:txBody>
      </p:sp>
      <p:sp>
        <p:nvSpPr>
          <p:cNvPr id="49" name="Text 34">
            <a:extLst>
              <a:ext uri="{FF2B5EF4-FFF2-40B4-BE49-F238E27FC236}">
                <a16:creationId xmlns:a16="http://schemas.microsoft.com/office/drawing/2014/main" id="{658B5BA5-5D46-30C2-BA68-FFBE5277BBAE}"/>
              </a:ext>
            </a:extLst>
          </p:cNvPr>
          <p:cNvSpPr/>
          <p:nvPr/>
        </p:nvSpPr>
        <p:spPr>
          <a:xfrm>
            <a:off x="6312274" y="406338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audit trail in CloudWatch logs</a:t>
            </a:r>
            <a:endParaRPr lang="en-US" sz="1000"/>
          </a:p>
        </p:txBody>
      </p:sp>
      <p:sp>
        <p:nvSpPr>
          <p:cNvPr id="50" name="Text 35">
            <a:extLst>
              <a:ext uri="{FF2B5EF4-FFF2-40B4-BE49-F238E27FC236}">
                <a16:creationId xmlns:a16="http://schemas.microsoft.com/office/drawing/2014/main" id="{990F12FC-E208-E9D0-9FF8-64C70F311518}"/>
              </a:ext>
            </a:extLst>
          </p:cNvPr>
          <p:cNvSpPr/>
          <p:nvPr/>
        </p:nvSpPr>
        <p:spPr>
          <a:xfrm>
            <a:off x="6197974" y="4406285"/>
            <a:ext cx="4133850" cy="337096"/>
          </a:xfrm>
          <a:prstGeom prst="roundRect">
            <a:avLst>
              <a:gd name="adj" fmla="val 16954"/>
            </a:avLst>
          </a:prstGeom>
          <a:solidFill>
            <a:srgbClr val="1E3A5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62C0F25D-84FE-8EA9-8719-18F8E6405B98}"/>
              </a:ext>
            </a:extLst>
          </p:cNvPr>
          <p:cNvSpPr/>
          <p:nvPr/>
        </p:nvSpPr>
        <p:spPr>
          <a:xfrm>
            <a:off x="6253790" y="4501535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155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error rate from 20% to less than 1%</a:t>
            </a:r>
            <a:endParaRPr lang="en-US" sz="1000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F0EE572-8B8C-E28F-7999-720A0683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317" y="4959443"/>
            <a:ext cx="4117602" cy="19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1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8D6F-53D8-14B9-4330-F4DDCC4E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7D615-0633-3C07-E53E-D079025279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A17DB6-C30B-DA6E-35DC-9A34C3703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C327064-76DC-E13D-8CCF-100CA715E778}"/>
              </a:ext>
            </a:extLst>
          </p:cNvPr>
          <p:cNvSpPr/>
          <p:nvPr/>
        </p:nvSpPr>
        <p:spPr>
          <a:xfrm>
            <a:off x="219075" y="749647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8595BB-E67A-67D4-DD6A-1F80D8428841}"/>
              </a:ext>
            </a:extLst>
          </p:cNvPr>
          <p:cNvSpPr/>
          <p:nvPr/>
        </p:nvSpPr>
        <p:spPr>
          <a:xfrm>
            <a:off x="400050" y="74964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CI/CD &amp; Infrastructure</a:t>
            </a:r>
            <a:endParaRPr lang="en-US" sz="2700">
              <a:solidFill>
                <a:srgbClr val="00206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C124504-6D1A-EBEE-AA51-437BE861FAE0}"/>
              </a:ext>
            </a:extLst>
          </p:cNvPr>
          <p:cNvSpPr/>
          <p:nvPr/>
        </p:nvSpPr>
        <p:spPr>
          <a:xfrm>
            <a:off x="400050" y="112112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 with CloudFormation &amp; GitHub Actions</a:t>
            </a:r>
            <a:endParaRPr lang="en-US" sz="975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31E80E-9058-2315-D2FE-D40F3D3A2752}"/>
              </a:ext>
            </a:extLst>
          </p:cNvPr>
          <p:cNvSpPr/>
          <p:nvPr/>
        </p:nvSpPr>
        <p:spPr>
          <a:xfrm>
            <a:off x="1994647" y="1818793"/>
            <a:ext cx="4133850" cy="1093440"/>
          </a:xfrm>
          <a:prstGeom prst="roundRect">
            <a:avLst>
              <a:gd name="adj" fmla="val 5227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D031CE1-FEB4-3DD0-1FF3-CE7816FBEB19}"/>
              </a:ext>
            </a:extLst>
          </p:cNvPr>
          <p:cNvSpPr/>
          <p:nvPr/>
        </p:nvSpPr>
        <p:spPr>
          <a:xfrm>
            <a:off x="2013697" y="1818793"/>
            <a:ext cx="0" cy="10934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B10B91-4E2A-BB92-0DD4-DCB8CBFC69CE}"/>
              </a:ext>
            </a:extLst>
          </p:cNvPr>
          <p:cNvSpPr/>
          <p:nvPr/>
        </p:nvSpPr>
        <p:spPr>
          <a:xfrm>
            <a:off x="2147047" y="193309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PIPELINE</a:t>
            </a:r>
            <a:endParaRPr lang="en-US" sz="10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93AEBF7-2F01-DBBA-6CE9-9F3EA7157667}"/>
              </a:ext>
            </a:extLst>
          </p:cNvPr>
          <p:cNvSpPr/>
          <p:nvPr/>
        </p:nvSpPr>
        <p:spPr>
          <a:xfrm>
            <a:off x="2147047" y="215023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Push to main/master branch</a:t>
            </a:r>
            <a:endParaRPr lang="en-US"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E81E879-78F5-314A-A498-2269798B1890}"/>
              </a:ext>
            </a:extLst>
          </p:cNvPr>
          <p:cNvSpPr/>
          <p:nvPr/>
        </p:nvSpPr>
        <p:spPr>
          <a:xfrm>
            <a:off x="2147047" y="232168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OAuth integration</a:t>
            </a:r>
            <a:endParaRPr lang="en-US"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530FB20-EA96-A1B3-A174-3B3046428F84}"/>
              </a:ext>
            </a:extLst>
          </p:cNvPr>
          <p:cNvSpPr/>
          <p:nvPr/>
        </p:nvSpPr>
        <p:spPr>
          <a:xfrm>
            <a:off x="2147047" y="249313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CodePipeline: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Automated build and deploy</a:t>
            </a:r>
            <a:endParaRPr lang="en-US" sz="1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23BC6BB-25A1-1FE7-22A3-53A55E9E7727}"/>
              </a:ext>
            </a:extLst>
          </p:cNvPr>
          <p:cNvSpPr/>
          <p:nvPr/>
        </p:nvSpPr>
        <p:spPr>
          <a:xfrm>
            <a:off x="2147047" y="266458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CodeBuild: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Compiles Glue job scripts</a:t>
            </a:r>
            <a:endParaRPr lang="en-US" sz="10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3E29405-1BE8-06CE-7E64-184D24BB9FBD}"/>
              </a:ext>
            </a:extLst>
          </p:cNvPr>
          <p:cNvSpPr/>
          <p:nvPr/>
        </p:nvSpPr>
        <p:spPr>
          <a:xfrm>
            <a:off x="1994647" y="3007483"/>
            <a:ext cx="4133850" cy="1064865"/>
          </a:xfrm>
          <a:prstGeom prst="roundRect">
            <a:avLst>
              <a:gd name="adj" fmla="val 5367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89B81C7-778D-44C6-08D4-494E72BEE639}"/>
              </a:ext>
            </a:extLst>
          </p:cNvPr>
          <p:cNvSpPr/>
          <p:nvPr/>
        </p:nvSpPr>
        <p:spPr>
          <a:xfrm>
            <a:off x="2013697" y="3007483"/>
            <a:ext cx="0" cy="1064865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F0294CD-5E26-7117-50F9-7A3E66E82B59}"/>
              </a:ext>
            </a:extLst>
          </p:cNvPr>
          <p:cNvSpPr/>
          <p:nvPr/>
        </p:nvSpPr>
        <p:spPr>
          <a:xfrm>
            <a:off x="2147047" y="312178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SCOPE</a:t>
            </a:r>
            <a:endParaRPr lang="en-US" sz="10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B3A2A3C-FB7C-9D97-71D9-51994D9A2E34}"/>
              </a:ext>
            </a:extLst>
          </p:cNvPr>
          <p:cNvSpPr/>
          <p:nvPr/>
        </p:nvSpPr>
        <p:spPr>
          <a:xfrm>
            <a:off x="2147047" y="3338924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Glue job scripts (Bronze, Silver, Gold, DQDL)</a:t>
            </a:r>
            <a:endParaRPr lang="en-US" sz="10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5B9E317-5914-8ED3-9E17-B10D41207F8B}"/>
              </a:ext>
            </a:extLst>
          </p:cNvPr>
          <p:cNvSpPr/>
          <p:nvPr/>
        </p:nvSpPr>
        <p:spPr>
          <a:xfrm>
            <a:off x="2180665" y="371880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  <a:spcAft>
                <a:spcPts val="225"/>
              </a:spcAft>
            </a:pPr>
            <a:r>
              <a:rPr lang="en-US" sz="1000" dirty="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✓ DQDL validation rules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A5C898F-0380-8AE0-94E6-EF2A967F049C}"/>
              </a:ext>
            </a:extLst>
          </p:cNvPr>
          <p:cNvSpPr/>
          <p:nvPr/>
        </p:nvSpPr>
        <p:spPr>
          <a:xfrm>
            <a:off x="2180665" y="353334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</a:pPr>
            <a:r>
              <a:rPr lang="en-US" sz="1000" dirty="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✓ </a:t>
            </a:r>
            <a:r>
              <a:rPr lang="en-US" sz="1000" dirty="0">
                <a:solidFill>
                  <a:srgbClr val="E3F2FD"/>
                </a:solidFill>
                <a:latin typeface="Arial"/>
                <a:ea typeface="+mn-lt"/>
                <a:cs typeface="Arial"/>
              </a:rPr>
              <a:t>Step function  state machine definitions</a:t>
            </a:r>
            <a:endParaRPr lang="en-US" sz="1000" dirty="0" err="1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FE6F3E5-40E7-B62F-48E0-8C95B7CB89C6}"/>
              </a:ext>
            </a:extLst>
          </p:cNvPr>
          <p:cNvSpPr/>
          <p:nvPr/>
        </p:nvSpPr>
        <p:spPr>
          <a:xfrm>
            <a:off x="1994647" y="4167599"/>
            <a:ext cx="4133850" cy="750540"/>
          </a:xfrm>
          <a:prstGeom prst="roundRect">
            <a:avLst>
              <a:gd name="adj" fmla="val 7615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2F3DF9C-AF25-BEDF-3F41-B72105D7AB72}"/>
              </a:ext>
            </a:extLst>
          </p:cNvPr>
          <p:cNvSpPr/>
          <p:nvPr/>
        </p:nvSpPr>
        <p:spPr>
          <a:xfrm>
            <a:off x="2013697" y="4167599"/>
            <a:ext cx="0" cy="7505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FA6AA84-AAAD-E05C-938F-155E661C4505}"/>
              </a:ext>
            </a:extLst>
          </p:cNvPr>
          <p:cNvSpPr/>
          <p:nvPr/>
        </p:nvSpPr>
        <p:spPr>
          <a:xfrm>
            <a:off x="2147047" y="428189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APPROACH</a:t>
            </a:r>
            <a:endParaRPr lang="en-US" sz="10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DE7E4F1-25B2-FC6E-DE8E-9E662EC4D64D}"/>
              </a:ext>
            </a:extLst>
          </p:cNvPr>
          <p:cNvSpPr/>
          <p:nvPr/>
        </p:nvSpPr>
        <p:spPr>
          <a:xfrm>
            <a:off x="2147047" y="44990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 infrastructure created manually</a:t>
            </a:r>
            <a:endParaRPr lang="en-US" sz="10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E42C4395-BEAC-DA92-56FA-7FD8C7B32669}"/>
              </a:ext>
            </a:extLst>
          </p:cNvPr>
          <p:cNvSpPr/>
          <p:nvPr/>
        </p:nvSpPr>
        <p:spPr>
          <a:xfrm>
            <a:off x="2147047" y="467048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deployment via CodePipeline</a:t>
            </a:r>
            <a:endParaRPr lang="en-US" sz="10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E116C9BC-A02B-2C62-E686-243B45B6B3AB}"/>
              </a:ext>
            </a:extLst>
          </p:cNvPr>
          <p:cNvSpPr/>
          <p:nvPr/>
        </p:nvSpPr>
        <p:spPr>
          <a:xfrm>
            <a:off x="6242797" y="1818793"/>
            <a:ext cx="4133850" cy="1055340"/>
          </a:xfrm>
          <a:prstGeom prst="roundRect">
            <a:avLst>
              <a:gd name="adj" fmla="val 5415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239455DA-DD61-CA63-F295-2AF5FA8CB258}"/>
              </a:ext>
            </a:extLst>
          </p:cNvPr>
          <p:cNvSpPr/>
          <p:nvPr/>
        </p:nvSpPr>
        <p:spPr>
          <a:xfrm>
            <a:off x="6261847" y="1818793"/>
            <a:ext cx="0" cy="10553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7E2367D-7CDD-795C-57D7-688E86524538}"/>
              </a:ext>
            </a:extLst>
          </p:cNvPr>
          <p:cNvSpPr/>
          <p:nvPr/>
        </p:nvSpPr>
        <p:spPr>
          <a:xfrm>
            <a:off x="6395197" y="1933093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 USAGE</a:t>
            </a:r>
            <a:endParaRPr lang="en-US" sz="10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1404F51F-81AA-4BB5-EF68-6C60E29BD068}"/>
              </a:ext>
            </a:extLst>
          </p:cNvPr>
          <p:cNvSpPr/>
          <p:nvPr/>
        </p:nvSpPr>
        <p:spPr>
          <a:xfrm>
            <a:off x="6395197" y="215023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CodePipeline and CodeBuild</a:t>
            </a:r>
            <a:endParaRPr lang="en-US" sz="10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3D927F3E-A189-8A11-566C-3595110F221D}"/>
              </a:ext>
            </a:extLst>
          </p:cNvPr>
          <p:cNvSpPr/>
          <p:nvPr/>
        </p:nvSpPr>
        <p:spPr>
          <a:xfrm>
            <a:off x="6395197" y="232168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infrastructure only</a:t>
            </a:r>
            <a:endParaRPr lang="en-US" sz="100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B920D1C-FF73-780F-CC08-E32A363F09DA}"/>
              </a:ext>
            </a:extLst>
          </p:cNvPr>
          <p:cNvSpPr/>
          <p:nvPr/>
        </p:nvSpPr>
        <p:spPr>
          <a:xfrm>
            <a:off x="6395197" y="2493133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Used For: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 AWS services (S3, Glue, Kinesis, Lambda) - these were created manually for learning purposes</a:t>
            </a:r>
            <a:endParaRPr lang="en-US" sz="1000"/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476AD88A-49B1-83A3-AB3F-8CA8A0B2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797" y="2969383"/>
            <a:ext cx="4133850" cy="1226790"/>
          </a:xfrm>
          <a:prstGeom prst="rect">
            <a:avLst/>
          </a:prstGeom>
        </p:spPr>
      </p:pic>
      <p:sp>
        <p:nvSpPr>
          <p:cNvPr id="33" name="Text 28">
            <a:extLst>
              <a:ext uri="{FF2B5EF4-FFF2-40B4-BE49-F238E27FC236}">
                <a16:creationId xmlns:a16="http://schemas.microsoft.com/office/drawing/2014/main" id="{0708A3E0-855B-C82A-0CF4-1BF4CC5716D9}"/>
              </a:ext>
            </a:extLst>
          </p:cNvPr>
          <p:cNvSpPr/>
          <p:nvPr/>
        </p:nvSpPr>
        <p:spPr>
          <a:xfrm>
            <a:off x="6357097" y="3083683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ACHIEVED</a:t>
            </a:r>
            <a:endParaRPr lang="en-US" sz="100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D68CD77-CB12-6349-7595-A6A46D933477}"/>
              </a:ext>
            </a:extLst>
          </p:cNvPr>
          <p:cNvSpPr/>
          <p:nvPr/>
        </p:nvSpPr>
        <p:spPr>
          <a:xfrm>
            <a:off x="6357097" y="330082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deployments on code push</a:t>
            </a:r>
            <a:endParaRPr lang="en-US" sz="100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A09DF71B-44A4-09B9-3B96-77506937B3D0}"/>
              </a:ext>
            </a:extLst>
          </p:cNvPr>
          <p:cNvSpPr/>
          <p:nvPr/>
        </p:nvSpPr>
        <p:spPr>
          <a:xfrm>
            <a:off x="6357097" y="346274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Version control for all pipeline code</a:t>
            </a:r>
            <a:endParaRPr lang="en-US" sz="100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5E3F5A1E-903E-76D7-9D03-96DFB30226A2}"/>
              </a:ext>
            </a:extLst>
          </p:cNvPr>
          <p:cNvSpPr/>
          <p:nvPr/>
        </p:nvSpPr>
        <p:spPr>
          <a:xfrm>
            <a:off x="6357097" y="362467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Reduced deployment time from 30min to 5min</a:t>
            </a:r>
            <a:endParaRPr lang="en-US" sz="100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2E057631-7897-5944-F63D-940194CF8491}"/>
              </a:ext>
            </a:extLst>
          </p:cNvPr>
          <p:cNvSpPr/>
          <p:nvPr/>
        </p:nvSpPr>
        <p:spPr>
          <a:xfrm>
            <a:off x="6357097" y="3786599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manual script uploads to S3</a:t>
            </a:r>
            <a:endParaRPr lang="en-US" sz="100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0485ABA6-65E1-5CC2-3235-1B7047127165}"/>
              </a:ext>
            </a:extLst>
          </p:cNvPr>
          <p:cNvSpPr/>
          <p:nvPr/>
        </p:nvSpPr>
        <p:spPr>
          <a:xfrm>
            <a:off x="6357097" y="394852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SNS notifications for deployment status</a:t>
            </a:r>
            <a:endParaRPr lang="en-US" sz="100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EE9D95C9-B86F-A65F-AF7B-DFAD6FC1CDA2}"/>
              </a:ext>
            </a:extLst>
          </p:cNvPr>
          <p:cNvSpPr/>
          <p:nvPr/>
        </p:nvSpPr>
        <p:spPr>
          <a:xfrm>
            <a:off x="6254002" y="4280219"/>
            <a:ext cx="4111440" cy="640826"/>
          </a:xfrm>
          <a:prstGeom prst="roundRect">
            <a:avLst>
              <a:gd name="adj" fmla="val 11542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9F88941-21AD-8964-6A18-5B571CAF1221}"/>
              </a:ext>
            </a:extLst>
          </p:cNvPr>
          <p:cNvSpPr/>
          <p:nvPr/>
        </p:nvSpPr>
        <p:spPr>
          <a:xfrm>
            <a:off x="6338047" y="4386674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FLOW</a:t>
            </a:r>
            <a:endParaRPr lang="en-US" sz="100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FC60514C-5053-04E4-54E8-A1C424562F69}"/>
              </a:ext>
            </a:extLst>
          </p:cNvPr>
          <p:cNvSpPr/>
          <p:nvPr/>
        </p:nvSpPr>
        <p:spPr>
          <a:xfrm>
            <a:off x="6338047" y="4571369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→ GitHub → CodePipeline → CodeBuild → S3 (Glue Scripts) → Email Notification</a:t>
            </a:r>
            <a:endParaRPr lang="en-US" sz="100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681F20B1-D6BD-32D9-169D-CB763AB2A928}"/>
              </a:ext>
            </a:extLst>
          </p:cNvPr>
          <p:cNvSpPr/>
          <p:nvPr/>
        </p:nvSpPr>
        <p:spPr>
          <a:xfrm>
            <a:off x="2147047" y="388689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  <a:spcAft>
                <a:spcPts val="225"/>
              </a:spcAft>
            </a:pPr>
            <a:r>
              <a:rPr lang="en-US" sz="1000" dirty="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✓ Configuration files (YAML)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39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FD19-27A2-94E9-CDAB-21D32262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4B52-E362-2B78-F9CE-ED11E4D68B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E8136C-EE16-09B7-2B38-610728B26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D1BCF-B6A5-9FD8-EF8C-1D69D1D5FB83}"/>
              </a:ext>
            </a:extLst>
          </p:cNvPr>
          <p:cNvSpPr/>
          <p:nvPr/>
        </p:nvSpPr>
        <p:spPr>
          <a:xfrm>
            <a:off x="219075" y="635347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D73B40-BE4A-EA54-0CDA-2B0373EFBCA3}"/>
              </a:ext>
            </a:extLst>
          </p:cNvPr>
          <p:cNvSpPr/>
          <p:nvPr/>
        </p:nvSpPr>
        <p:spPr>
          <a:xfrm>
            <a:off x="400050" y="63534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QuickSight Dashboards</a:t>
            </a:r>
            <a:endParaRPr lang="en-US" sz="27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93D966E-269D-57D9-CA1D-33F3FD18241A}"/>
              </a:ext>
            </a:extLst>
          </p:cNvPr>
          <p:cNvSpPr/>
          <p:nvPr/>
        </p:nvSpPr>
        <p:spPr>
          <a:xfrm>
            <a:off x="400050" y="100682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&amp; Visualization</a:t>
            </a:r>
            <a:endParaRPr lang="en-US" sz="975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92E23DB-6160-08BB-2C03-DAF76447BD8B}"/>
              </a:ext>
            </a:extLst>
          </p:cNvPr>
          <p:cNvSpPr/>
          <p:nvPr/>
        </p:nvSpPr>
        <p:spPr>
          <a:xfrm>
            <a:off x="493059" y="1435552"/>
            <a:ext cx="4133850" cy="298996"/>
          </a:xfrm>
          <a:prstGeom prst="roundRect">
            <a:avLst>
              <a:gd name="adj" fmla="val 19114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7139358-EC61-6BD5-B03B-D43CE2322DF2}"/>
              </a:ext>
            </a:extLst>
          </p:cNvPr>
          <p:cNvSpPr/>
          <p:nvPr/>
        </p:nvSpPr>
        <p:spPr>
          <a:xfrm>
            <a:off x="400050" y="1446758"/>
            <a:ext cx="0" cy="2989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14EA8EB-2876-6D3A-F860-1A3B423A4CE8}"/>
              </a:ext>
            </a:extLst>
          </p:cNvPr>
          <p:cNvSpPr/>
          <p:nvPr/>
        </p:nvSpPr>
        <p:spPr>
          <a:xfrm>
            <a:off x="607359" y="1511752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 BATCH PIPELINE - HISTORICAL DATA</a:t>
            </a:r>
            <a:endParaRPr lang="en-US" sz="800" dirty="0">
              <a:latin typeface="Arial"/>
              <a:cs typeface="Arial"/>
            </a:endParaRPr>
          </a:p>
        </p:txBody>
      </p:sp>
      <p:pic>
        <p:nvPicPr>
          <p:cNvPr id="9" name="Picture 8" descr="A graph showing the price of a currency&#10;&#10;AI-generated content may be incorrect.">
            <a:extLst>
              <a:ext uri="{FF2B5EF4-FFF2-40B4-BE49-F238E27FC236}">
                <a16:creationId xmlns:a16="http://schemas.microsoft.com/office/drawing/2014/main" id="{91C3D59F-C782-79F4-DDEC-3910B52B6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74" y="3568513"/>
            <a:ext cx="5896722" cy="2288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CAEAAB-8A4A-52C6-9926-7581EA51C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312" y="2152650"/>
            <a:ext cx="3295650" cy="1709270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F2AA6DE-C204-ECE7-E8B3-1C7351000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57" y="4019362"/>
            <a:ext cx="3294529" cy="1848035"/>
          </a:xfrm>
          <a:prstGeom prst="rect">
            <a:avLst/>
          </a:prstGeom>
        </p:spPr>
      </p:pic>
      <p:pic>
        <p:nvPicPr>
          <p:cNvPr id="13" name="Picture 12" descr="A screenshot of a screen&#10;&#10;AI-generated content may be incorrect.">
            <a:extLst>
              <a:ext uri="{FF2B5EF4-FFF2-40B4-BE49-F238E27FC236}">
                <a16:creationId xmlns:a16="http://schemas.microsoft.com/office/drawing/2014/main" id="{7358F851-4CB2-30AE-0C3E-FB4E3B17E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6771" y="2157132"/>
            <a:ext cx="1776880" cy="1102846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A9E401-4708-0E71-4F55-CB2EEF5CF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173" y="2149101"/>
            <a:ext cx="1778935" cy="1120401"/>
          </a:xfrm>
          <a:prstGeom prst="rect">
            <a:avLst/>
          </a:prstGeom>
        </p:spPr>
      </p:pic>
      <p:pic>
        <p:nvPicPr>
          <p:cNvPr id="15" name="Picture 1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64DF690-CB78-AA45-F848-51BF5B3558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2388" y="2157132"/>
            <a:ext cx="1782109" cy="11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3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CCA6-1A5A-0352-9A5D-5D6CC7EE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9DC24-F385-2EF6-5346-2998E7A90D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D612F8-419F-6425-DD9B-1B4A02194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01E00A9-4371-C8C3-AC6E-9145E1F16D5F}"/>
              </a:ext>
            </a:extLst>
          </p:cNvPr>
          <p:cNvSpPr/>
          <p:nvPr/>
        </p:nvSpPr>
        <p:spPr>
          <a:xfrm>
            <a:off x="219075" y="635347"/>
            <a:ext cx="0" cy="544711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0E76AD-0B58-8CB7-C6A9-AC2EEB45B00A}"/>
              </a:ext>
            </a:extLst>
          </p:cNvPr>
          <p:cNvSpPr/>
          <p:nvPr/>
        </p:nvSpPr>
        <p:spPr>
          <a:xfrm>
            <a:off x="400050" y="635347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chemeClr val="accent1">
                    <a:lumMod val="49000"/>
                  </a:schemeClr>
                </a:solidFill>
                <a:latin typeface="Arial"/>
                <a:ea typeface="Arial" pitchFamily="34" charset="-122"/>
                <a:cs typeface="Arial"/>
              </a:rPr>
              <a:t>QuickSight Dashboards</a:t>
            </a:r>
            <a:endParaRPr lang="en-US" sz="2700">
              <a:solidFill>
                <a:schemeClr val="accent1">
                  <a:lumMod val="49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ECA864F-C6F8-9DD4-6EC7-B80574B0EBB0}"/>
              </a:ext>
            </a:extLst>
          </p:cNvPr>
          <p:cNvSpPr/>
          <p:nvPr/>
        </p:nvSpPr>
        <p:spPr>
          <a:xfrm>
            <a:off x="400050" y="1006822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&amp; Visualization</a:t>
            </a:r>
            <a:endParaRPr lang="en-US" sz="975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E58F6E7-8297-A03D-1D4F-753515602ED5}"/>
              </a:ext>
            </a:extLst>
          </p:cNvPr>
          <p:cNvSpPr/>
          <p:nvPr/>
        </p:nvSpPr>
        <p:spPr>
          <a:xfrm>
            <a:off x="374650" y="1478508"/>
            <a:ext cx="4133850" cy="298996"/>
          </a:xfrm>
          <a:prstGeom prst="roundRect">
            <a:avLst>
              <a:gd name="adj" fmla="val 19114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6D42856-1299-8528-5CB1-F3A45478EDC7}"/>
              </a:ext>
            </a:extLst>
          </p:cNvPr>
          <p:cNvSpPr/>
          <p:nvPr/>
        </p:nvSpPr>
        <p:spPr>
          <a:xfrm>
            <a:off x="393700" y="1478508"/>
            <a:ext cx="0" cy="298996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04AA0CB-3F73-FCA5-0BE7-A47A4AE53E44}"/>
              </a:ext>
            </a:extLst>
          </p:cNvPr>
          <p:cNvSpPr/>
          <p:nvPr/>
        </p:nvSpPr>
        <p:spPr>
          <a:xfrm>
            <a:off x="488950" y="155470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STREAMING PIPELINE - REAL-TIME</a:t>
            </a:r>
            <a:endParaRPr lang="en-US" sz="825"/>
          </a:p>
        </p:txBody>
      </p:sp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C29887B5-D453-D96C-1A25-27C513491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09" y="2104849"/>
            <a:ext cx="4438650" cy="1668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BCE466-119B-F285-363A-496F81786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760" y="2101851"/>
            <a:ext cx="1866639" cy="167341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819801-FA5C-822A-1414-E0D207C00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985" y="3973233"/>
            <a:ext cx="1862429" cy="16670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E80040-77AE-2A64-B9CD-B7C8A59FC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977" y="3975109"/>
            <a:ext cx="4433047" cy="165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48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8583D-BC1D-F90B-8EAA-46E4D788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1F3B37-2AE8-2FA5-C09A-B4B05827B553}"/>
              </a:ext>
            </a:extLst>
          </p:cNvPr>
          <p:cNvSpPr/>
          <p:nvPr/>
        </p:nvSpPr>
        <p:spPr>
          <a:xfrm>
            <a:off x="219075" y="238125"/>
            <a:ext cx="0" cy="37713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A462B9-AC1C-2815-2361-94628D61DBE4}"/>
              </a:ext>
            </a:extLst>
          </p:cNvPr>
          <p:cNvSpPr/>
          <p:nvPr/>
        </p:nvSpPr>
        <p:spPr>
          <a:xfrm>
            <a:off x="381000" y="238125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Technology Stack</a:t>
            </a:r>
            <a:endParaRPr lang="en-US" sz="10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0CDB22-69F6-8027-1E7C-161A891ED58D}"/>
              </a:ext>
            </a:extLst>
          </p:cNvPr>
          <p:cNvSpPr/>
          <p:nvPr/>
        </p:nvSpPr>
        <p:spPr>
          <a:xfrm>
            <a:off x="381000" y="495300"/>
            <a:ext cx="81610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AWS Services &amp; Technologies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A9E4B2-77B5-DEAC-8F08-F73083634372}"/>
              </a:ext>
            </a:extLst>
          </p:cNvPr>
          <p:cNvSpPr/>
          <p:nvPr/>
        </p:nvSpPr>
        <p:spPr>
          <a:xfrm>
            <a:off x="1792941" y="1819327"/>
            <a:ext cx="8382000" cy="3128070"/>
          </a:xfrm>
          <a:prstGeom prst="roundRect">
            <a:avLst>
              <a:gd name="adj" fmla="val 1827"/>
            </a:avLst>
          </a:prstGeom>
          <a:solidFill>
            <a:srgbClr val="1A2942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238F48F8-A202-E087-5954-BDB40E203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991" y="1838377"/>
            <a:ext cx="8343900" cy="21520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09D8828-591B-A4B0-E6DA-935428AF713B}"/>
              </a:ext>
            </a:extLst>
          </p:cNvPr>
          <p:cNvSpPr/>
          <p:nvPr/>
        </p:nvSpPr>
        <p:spPr>
          <a:xfrm>
            <a:off x="1907241" y="1886002"/>
            <a:ext cx="22345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3B79F51-9BCC-23C8-EDCF-B11F3CF65921}"/>
              </a:ext>
            </a:extLst>
          </p:cNvPr>
          <p:cNvSpPr/>
          <p:nvPr/>
        </p:nvSpPr>
        <p:spPr>
          <a:xfrm>
            <a:off x="4097991" y="1886002"/>
            <a:ext cx="60819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/ Technologies Used</a:t>
            </a:r>
            <a:endParaRPr lang="en-US" sz="1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A35FE25-60D7-27EB-8FCB-9C249FB9D4BB}"/>
              </a:ext>
            </a:extLst>
          </p:cNvPr>
          <p:cNvSpPr/>
          <p:nvPr/>
        </p:nvSpPr>
        <p:spPr>
          <a:xfrm>
            <a:off x="1811991" y="2241106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90E987B-A7B3-441E-9DCE-8A8C81B61596}"/>
              </a:ext>
            </a:extLst>
          </p:cNvPr>
          <p:cNvSpPr/>
          <p:nvPr/>
        </p:nvSpPr>
        <p:spPr>
          <a:xfrm>
            <a:off x="1907241" y="2091683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9A3E756-5A70-384D-65FB-358387119C64}"/>
              </a:ext>
            </a:extLst>
          </p:cNvPr>
          <p:cNvSpPr/>
          <p:nvPr/>
        </p:nvSpPr>
        <p:spPr>
          <a:xfrm>
            <a:off x="4097991" y="2091683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API (REST, JSON)</a:t>
            </a:r>
            <a:endParaRPr lang="en-US" sz="100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DC150996-08FE-D363-BB17-48CDD58201A4}"/>
              </a:ext>
            </a:extLst>
          </p:cNvPr>
          <p:cNvSpPr/>
          <p:nvPr/>
        </p:nvSpPr>
        <p:spPr>
          <a:xfrm>
            <a:off x="1811991" y="2245869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526BF242-5409-BC26-0E46-484636CEAA7B}"/>
              </a:ext>
            </a:extLst>
          </p:cNvPr>
          <p:cNvSpPr/>
          <p:nvPr/>
        </p:nvSpPr>
        <p:spPr>
          <a:xfrm>
            <a:off x="1811991" y="2433392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A0463E9E-E8D8-DE6A-738F-460034957240}"/>
              </a:ext>
            </a:extLst>
          </p:cNvPr>
          <p:cNvSpPr/>
          <p:nvPr/>
        </p:nvSpPr>
        <p:spPr>
          <a:xfrm>
            <a:off x="1907241" y="2283969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2898DDF9-ACB0-369C-D880-3E38C3F6040A}"/>
              </a:ext>
            </a:extLst>
          </p:cNvPr>
          <p:cNvSpPr/>
          <p:nvPr/>
        </p:nvSpPr>
        <p:spPr>
          <a:xfrm>
            <a:off x="4097991" y="2283969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Glue, Lambda, EventBridge, CloudWatch Events</a:t>
            </a:r>
            <a:endParaRPr lang="en-US" sz="1000" dirty="0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71145800-D26C-90F5-DE93-72D298D7CB3E}"/>
              </a:ext>
            </a:extLst>
          </p:cNvPr>
          <p:cNvSpPr/>
          <p:nvPr/>
        </p:nvSpPr>
        <p:spPr>
          <a:xfrm>
            <a:off x="1811991" y="2625678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2C89664A-4628-0D81-BFBF-3D913980194D}"/>
              </a:ext>
            </a:extLst>
          </p:cNvPr>
          <p:cNvSpPr/>
          <p:nvPr/>
        </p:nvSpPr>
        <p:spPr>
          <a:xfrm>
            <a:off x="1907241" y="2476255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EAF0AF06-FD59-28BF-7489-FD71E32C008B}"/>
              </a:ext>
            </a:extLst>
          </p:cNvPr>
          <p:cNvSpPr/>
          <p:nvPr/>
        </p:nvSpPr>
        <p:spPr>
          <a:xfrm>
            <a:off x="4097991" y="2476255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Kinesis Data Streams, Kinesis Firehose</a:t>
            </a:r>
            <a:endParaRPr lang="en-US" sz="1000" dirty="0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E4EFC914-7A00-4C9E-B5F1-2A81AD7D6D20}"/>
              </a:ext>
            </a:extLst>
          </p:cNvPr>
          <p:cNvSpPr/>
          <p:nvPr/>
        </p:nvSpPr>
        <p:spPr>
          <a:xfrm>
            <a:off x="1811991" y="2630441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725DEF96-241D-B48F-8493-E24714172DD8}"/>
              </a:ext>
            </a:extLst>
          </p:cNvPr>
          <p:cNvSpPr/>
          <p:nvPr/>
        </p:nvSpPr>
        <p:spPr>
          <a:xfrm>
            <a:off x="1811991" y="2817964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F1AC494E-C5FF-4545-02B8-0A718334E578}"/>
              </a:ext>
            </a:extLst>
          </p:cNvPr>
          <p:cNvSpPr/>
          <p:nvPr/>
        </p:nvSpPr>
        <p:spPr>
          <a:xfrm>
            <a:off x="1907241" y="2668541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F2B6C577-A149-D12F-3386-A0A3D3F84823}"/>
              </a:ext>
            </a:extLst>
          </p:cNvPr>
          <p:cNvSpPr/>
          <p:nvPr/>
        </p:nvSpPr>
        <p:spPr>
          <a:xfrm>
            <a:off x="4097991" y="2668541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SQS (Dead-Letter Queue)</a:t>
            </a:r>
            <a:endParaRPr lang="en-US" sz="1000" dirty="0"/>
          </a:p>
        </p:txBody>
      </p:sp>
      <p:sp>
        <p:nvSpPr>
          <p:cNvPr id="66" name="Shape 20">
            <a:extLst>
              <a:ext uri="{FF2B5EF4-FFF2-40B4-BE49-F238E27FC236}">
                <a16:creationId xmlns:a16="http://schemas.microsoft.com/office/drawing/2014/main" id="{E6DAF061-357F-20DF-E200-A498CF8EB140}"/>
              </a:ext>
            </a:extLst>
          </p:cNvPr>
          <p:cNvSpPr/>
          <p:nvPr/>
        </p:nvSpPr>
        <p:spPr>
          <a:xfrm>
            <a:off x="1811991" y="3010250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C4A80A6F-95A1-33E5-3FE6-F7EFD177CB1B}"/>
              </a:ext>
            </a:extLst>
          </p:cNvPr>
          <p:cNvSpPr/>
          <p:nvPr/>
        </p:nvSpPr>
        <p:spPr>
          <a:xfrm>
            <a:off x="1907241" y="2860827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E54BE201-0593-909C-DB1B-0ED40FFBADAD}"/>
              </a:ext>
            </a:extLst>
          </p:cNvPr>
          <p:cNvSpPr/>
          <p:nvPr/>
        </p:nvSpPr>
        <p:spPr>
          <a:xfrm>
            <a:off x="4097991" y="2860827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 (Bronze, Silver, Gold layers)</a:t>
            </a:r>
            <a:endParaRPr lang="en-US" sz="100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A072B0C8-C2E2-AE4F-E13F-9438C0F9F904}"/>
              </a:ext>
            </a:extLst>
          </p:cNvPr>
          <p:cNvSpPr/>
          <p:nvPr/>
        </p:nvSpPr>
        <p:spPr>
          <a:xfrm>
            <a:off x="1811991" y="3015013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93E07409-E0A1-8B43-33E5-7573D59A0104}"/>
              </a:ext>
            </a:extLst>
          </p:cNvPr>
          <p:cNvSpPr/>
          <p:nvPr/>
        </p:nvSpPr>
        <p:spPr>
          <a:xfrm>
            <a:off x="1811991" y="3202536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EB58D664-D692-D680-2426-3E2A684C420F}"/>
              </a:ext>
            </a:extLst>
          </p:cNvPr>
          <p:cNvSpPr/>
          <p:nvPr/>
        </p:nvSpPr>
        <p:spPr>
          <a:xfrm>
            <a:off x="1907241" y="3053113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&amp; Data Quality</a:t>
            </a:r>
            <a:endParaRPr lang="en-US" sz="1000" dirty="0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B8944F9D-2F41-70B0-5C71-3EAD7A1ED1ED}"/>
              </a:ext>
            </a:extLst>
          </p:cNvPr>
          <p:cNvSpPr/>
          <p:nvPr/>
        </p:nvSpPr>
        <p:spPr>
          <a:xfrm>
            <a:off x="4097991" y="3053113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Glue (Spark), DQDL, Glue Bookmarks</a:t>
            </a:r>
            <a:endParaRPr lang="en-US" sz="1000" dirty="0"/>
          </a:p>
        </p:txBody>
      </p:sp>
      <p:sp>
        <p:nvSpPr>
          <p:cNvPr id="73" name="Shape 27">
            <a:extLst>
              <a:ext uri="{FF2B5EF4-FFF2-40B4-BE49-F238E27FC236}">
                <a16:creationId xmlns:a16="http://schemas.microsoft.com/office/drawing/2014/main" id="{69F1D357-F6DC-BFD5-FCC4-93A163636B89}"/>
              </a:ext>
            </a:extLst>
          </p:cNvPr>
          <p:cNvSpPr/>
          <p:nvPr/>
        </p:nvSpPr>
        <p:spPr>
          <a:xfrm>
            <a:off x="1811991" y="3394822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4" name="Text 28">
            <a:extLst>
              <a:ext uri="{FF2B5EF4-FFF2-40B4-BE49-F238E27FC236}">
                <a16:creationId xmlns:a16="http://schemas.microsoft.com/office/drawing/2014/main" id="{0A29DC57-80ED-8C59-5510-3CDB02391ACF}"/>
              </a:ext>
            </a:extLst>
          </p:cNvPr>
          <p:cNvSpPr/>
          <p:nvPr/>
        </p:nvSpPr>
        <p:spPr>
          <a:xfrm>
            <a:off x="1907241" y="3245399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E9A4E60B-89EE-A46E-79D1-23103124C22F}"/>
              </a:ext>
            </a:extLst>
          </p:cNvPr>
          <p:cNvSpPr/>
          <p:nvPr/>
        </p:nvSpPr>
        <p:spPr>
          <a:xfrm>
            <a:off x="4097991" y="3245399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Step Functions</a:t>
            </a:r>
            <a:endParaRPr lang="en-US" sz="1000" dirty="0"/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8FE3F759-DF3E-02CC-26F3-01E4DDDA17EE}"/>
              </a:ext>
            </a:extLst>
          </p:cNvPr>
          <p:cNvSpPr/>
          <p:nvPr/>
        </p:nvSpPr>
        <p:spPr>
          <a:xfrm>
            <a:off x="1811991" y="3399585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77" name="Shape 31">
            <a:extLst>
              <a:ext uri="{FF2B5EF4-FFF2-40B4-BE49-F238E27FC236}">
                <a16:creationId xmlns:a16="http://schemas.microsoft.com/office/drawing/2014/main" id="{727DE7A4-D4FC-2423-6FE5-80CD21D8A883}"/>
              </a:ext>
            </a:extLst>
          </p:cNvPr>
          <p:cNvSpPr/>
          <p:nvPr/>
        </p:nvSpPr>
        <p:spPr>
          <a:xfrm>
            <a:off x="1811991" y="3587108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78" name="Text 32">
            <a:extLst>
              <a:ext uri="{FF2B5EF4-FFF2-40B4-BE49-F238E27FC236}">
                <a16:creationId xmlns:a16="http://schemas.microsoft.com/office/drawing/2014/main" id="{24C45F8A-9D35-F313-8AEB-A4A59EE4BA55}"/>
              </a:ext>
            </a:extLst>
          </p:cNvPr>
          <p:cNvSpPr/>
          <p:nvPr/>
        </p:nvSpPr>
        <p:spPr>
          <a:xfrm>
            <a:off x="1907241" y="3437685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Catalog</a:t>
            </a:r>
            <a:endParaRPr lang="en-US" sz="1000" dirty="0"/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D0716862-31AA-7849-BA21-85D33CAEB3A1}"/>
              </a:ext>
            </a:extLst>
          </p:cNvPr>
          <p:cNvSpPr/>
          <p:nvPr/>
        </p:nvSpPr>
        <p:spPr>
          <a:xfrm>
            <a:off x="4097991" y="3437685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Glue Data Catalog</a:t>
            </a:r>
            <a:endParaRPr lang="en-US" sz="1000" dirty="0"/>
          </a:p>
        </p:txBody>
      </p:sp>
      <p:sp>
        <p:nvSpPr>
          <p:cNvPr id="80" name="Shape 34">
            <a:extLst>
              <a:ext uri="{FF2B5EF4-FFF2-40B4-BE49-F238E27FC236}">
                <a16:creationId xmlns:a16="http://schemas.microsoft.com/office/drawing/2014/main" id="{6CE2B6C1-7642-4FA7-2D1B-F73E25C6E78D}"/>
              </a:ext>
            </a:extLst>
          </p:cNvPr>
          <p:cNvSpPr/>
          <p:nvPr/>
        </p:nvSpPr>
        <p:spPr>
          <a:xfrm>
            <a:off x="1811991" y="3779394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1" name="Text 35">
            <a:extLst>
              <a:ext uri="{FF2B5EF4-FFF2-40B4-BE49-F238E27FC236}">
                <a16:creationId xmlns:a16="http://schemas.microsoft.com/office/drawing/2014/main" id="{6B894924-AB0B-F7AF-3D81-82E471A22D88}"/>
              </a:ext>
            </a:extLst>
          </p:cNvPr>
          <p:cNvSpPr/>
          <p:nvPr/>
        </p:nvSpPr>
        <p:spPr>
          <a:xfrm>
            <a:off x="1907241" y="3629970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Warehouse</a:t>
            </a:r>
            <a:endParaRPr lang="en-US" sz="1000" dirty="0"/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55F937E7-5ECC-2173-2648-7F62037AB256}"/>
              </a:ext>
            </a:extLst>
          </p:cNvPr>
          <p:cNvSpPr/>
          <p:nvPr/>
        </p:nvSpPr>
        <p:spPr>
          <a:xfrm>
            <a:off x="4097991" y="3629970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DynamoDB, Redshift (Zero-ETL), Athena</a:t>
            </a:r>
            <a:endParaRPr lang="en-US" sz="100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F19FFE5D-6F05-26F0-92B6-D67AD743B195}"/>
              </a:ext>
            </a:extLst>
          </p:cNvPr>
          <p:cNvSpPr/>
          <p:nvPr/>
        </p:nvSpPr>
        <p:spPr>
          <a:xfrm>
            <a:off x="1811991" y="3784156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84" name="Shape 38">
            <a:extLst>
              <a:ext uri="{FF2B5EF4-FFF2-40B4-BE49-F238E27FC236}">
                <a16:creationId xmlns:a16="http://schemas.microsoft.com/office/drawing/2014/main" id="{D7CA1F7C-78E4-F642-0CF6-DE06A4BD69AA}"/>
              </a:ext>
            </a:extLst>
          </p:cNvPr>
          <p:cNvSpPr/>
          <p:nvPr/>
        </p:nvSpPr>
        <p:spPr>
          <a:xfrm>
            <a:off x="1811991" y="3971680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E549C21E-A4B0-6879-BB46-8F3026EEC9F0}"/>
              </a:ext>
            </a:extLst>
          </p:cNvPr>
          <p:cNvSpPr/>
          <p:nvPr/>
        </p:nvSpPr>
        <p:spPr>
          <a:xfrm>
            <a:off x="1907241" y="3822256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83436AB8-6AEE-67DC-DFAF-6D25A01FE310}"/>
              </a:ext>
            </a:extLst>
          </p:cNvPr>
          <p:cNvSpPr/>
          <p:nvPr/>
        </p:nvSpPr>
        <p:spPr>
          <a:xfrm>
            <a:off x="4097991" y="3822256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QuickSight</a:t>
            </a:r>
            <a:endParaRPr lang="en-US" sz="1000" dirty="0"/>
          </a:p>
        </p:txBody>
      </p:sp>
      <p:sp>
        <p:nvSpPr>
          <p:cNvPr id="87" name="Shape 41">
            <a:extLst>
              <a:ext uri="{FF2B5EF4-FFF2-40B4-BE49-F238E27FC236}">
                <a16:creationId xmlns:a16="http://schemas.microsoft.com/office/drawing/2014/main" id="{803264ED-64CF-4826-E042-B78084A02ABA}"/>
              </a:ext>
            </a:extLst>
          </p:cNvPr>
          <p:cNvSpPr/>
          <p:nvPr/>
        </p:nvSpPr>
        <p:spPr>
          <a:xfrm>
            <a:off x="1811991" y="4163966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8" name="Text 42">
            <a:extLst>
              <a:ext uri="{FF2B5EF4-FFF2-40B4-BE49-F238E27FC236}">
                <a16:creationId xmlns:a16="http://schemas.microsoft.com/office/drawing/2014/main" id="{EED54069-2BCA-C306-D6A2-D6C5800EFB3A}"/>
              </a:ext>
            </a:extLst>
          </p:cNvPr>
          <p:cNvSpPr/>
          <p:nvPr/>
        </p:nvSpPr>
        <p:spPr>
          <a:xfrm>
            <a:off x="1907241" y="4014542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Alerts</a:t>
            </a:r>
            <a:endParaRPr lang="en-US" sz="100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33A209CA-80A3-BAA8-B82C-7BF68A3A342D}"/>
              </a:ext>
            </a:extLst>
          </p:cNvPr>
          <p:cNvSpPr/>
          <p:nvPr/>
        </p:nvSpPr>
        <p:spPr>
          <a:xfrm>
            <a:off x="4097991" y="4014542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CloudWatch, Amazon SNS</a:t>
            </a:r>
            <a:endParaRPr lang="en-US" sz="1000" dirty="0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4E87A463-7F6F-4667-0264-1A1B58B73895}"/>
              </a:ext>
            </a:extLst>
          </p:cNvPr>
          <p:cNvSpPr/>
          <p:nvPr/>
        </p:nvSpPr>
        <p:spPr>
          <a:xfrm>
            <a:off x="1811991" y="4168728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91" name="Shape 45">
            <a:extLst>
              <a:ext uri="{FF2B5EF4-FFF2-40B4-BE49-F238E27FC236}">
                <a16:creationId xmlns:a16="http://schemas.microsoft.com/office/drawing/2014/main" id="{AB23B7A9-CC5F-AAFB-2F15-C5F8CCE522E7}"/>
              </a:ext>
            </a:extLst>
          </p:cNvPr>
          <p:cNvSpPr/>
          <p:nvPr/>
        </p:nvSpPr>
        <p:spPr>
          <a:xfrm>
            <a:off x="1811991" y="4356252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92" name="Text 46">
            <a:extLst>
              <a:ext uri="{FF2B5EF4-FFF2-40B4-BE49-F238E27FC236}">
                <a16:creationId xmlns:a16="http://schemas.microsoft.com/office/drawing/2014/main" id="{33996560-33F9-6DCB-EA88-9C3E8109A299}"/>
              </a:ext>
            </a:extLst>
          </p:cNvPr>
          <p:cNvSpPr/>
          <p:nvPr/>
        </p:nvSpPr>
        <p:spPr>
          <a:xfrm>
            <a:off x="1907241" y="4206828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93" name="Text 47">
            <a:extLst>
              <a:ext uri="{FF2B5EF4-FFF2-40B4-BE49-F238E27FC236}">
                <a16:creationId xmlns:a16="http://schemas.microsoft.com/office/drawing/2014/main" id="{B552D6AE-0843-B800-32BF-453925AAE42B}"/>
              </a:ext>
            </a:extLst>
          </p:cNvPr>
          <p:cNvSpPr/>
          <p:nvPr/>
        </p:nvSpPr>
        <p:spPr>
          <a:xfrm>
            <a:off x="4097991" y="4206828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IAM</a:t>
            </a:r>
            <a:endParaRPr lang="en-US" sz="1000" dirty="0"/>
          </a:p>
        </p:txBody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C82B0003-2006-2369-3A0F-6475734119D3}"/>
              </a:ext>
            </a:extLst>
          </p:cNvPr>
          <p:cNvSpPr/>
          <p:nvPr/>
        </p:nvSpPr>
        <p:spPr>
          <a:xfrm>
            <a:off x="1811991" y="4548538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95" name="Text 49">
            <a:extLst>
              <a:ext uri="{FF2B5EF4-FFF2-40B4-BE49-F238E27FC236}">
                <a16:creationId xmlns:a16="http://schemas.microsoft.com/office/drawing/2014/main" id="{0D5B973C-D797-E058-9B91-31AF71C0E793}"/>
              </a:ext>
            </a:extLst>
          </p:cNvPr>
          <p:cNvSpPr/>
          <p:nvPr/>
        </p:nvSpPr>
        <p:spPr>
          <a:xfrm>
            <a:off x="1907241" y="4399114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</a:t>
            </a:r>
            <a:endParaRPr lang="en-US" sz="1000" dirty="0"/>
          </a:p>
        </p:txBody>
      </p:sp>
      <p:sp>
        <p:nvSpPr>
          <p:cNvPr id="96" name="Text 50">
            <a:extLst>
              <a:ext uri="{FF2B5EF4-FFF2-40B4-BE49-F238E27FC236}">
                <a16:creationId xmlns:a16="http://schemas.microsoft.com/office/drawing/2014/main" id="{881FE543-6043-2585-201A-9C35073C47EA}"/>
              </a:ext>
            </a:extLst>
          </p:cNvPr>
          <p:cNvSpPr/>
          <p:nvPr/>
        </p:nvSpPr>
        <p:spPr>
          <a:xfrm>
            <a:off x="4097991" y="4399114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CloudFormation</a:t>
            </a:r>
            <a:endParaRPr lang="en-US" sz="1000" dirty="0"/>
          </a:p>
        </p:txBody>
      </p:sp>
      <p:sp>
        <p:nvSpPr>
          <p:cNvPr id="97" name="Text 51">
            <a:extLst>
              <a:ext uri="{FF2B5EF4-FFF2-40B4-BE49-F238E27FC236}">
                <a16:creationId xmlns:a16="http://schemas.microsoft.com/office/drawing/2014/main" id="{17E75227-5270-DBE7-C5AF-F5DBDEEE949B}"/>
              </a:ext>
            </a:extLst>
          </p:cNvPr>
          <p:cNvSpPr/>
          <p:nvPr/>
        </p:nvSpPr>
        <p:spPr>
          <a:xfrm>
            <a:off x="1811991" y="4553300"/>
            <a:ext cx="8343900" cy="192286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98" name="Shape 52">
            <a:extLst>
              <a:ext uri="{FF2B5EF4-FFF2-40B4-BE49-F238E27FC236}">
                <a16:creationId xmlns:a16="http://schemas.microsoft.com/office/drawing/2014/main" id="{A7F7491B-EBD3-AF70-C072-EAB32C81DB0E}"/>
              </a:ext>
            </a:extLst>
          </p:cNvPr>
          <p:cNvSpPr/>
          <p:nvPr/>
        </p:nvSpPr>
        <p:spPr>
          <a:xfrm>
            <a:off x="1811991" y="4740824"/>
            <a:ext cx="8343900" cy="0"/>
          </a:xfrm>
          <a:prstGeom prst="line">
            <a:avLst/>
          </a:prstGeom>
          <a:noFill/>
          <a:ln w="9525">
            <a:solidFill>
              <a:srgbClr val="2D4059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99" name="Text 53">
            <a:extLst>
              <a:ext uri="{FF2B5EF4-FFF2-40B4-BE49-F238E27FC236}">
                <a16:creationId xmlns:a16="http://schemas.microsoft.com/office/drawing/2014/main" id="{87AFB46B-5713-5769-84E9-7A32B7BBE46C}"/>
              </a:ext>
            </a:extLst>
          </p:cNvPr>
          <p:cNvSpPr/>
          <p:nvPr/>
        </p:nvSpPr>
        <p:spPr>
          <a:xfrm>
            <a:off x="1907241" y="4591400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000" dirty="0"/>
          </a:p>
        </p:txBody>
      </p:sp>
      <p:sp>
        <p:nvSpPr>
          <p:cNvPr id="100" name="Text 54">
            <a:extLst>
              <a:ext uri="{FF2B5EF4-FFF2-40B4-BE49-F238E27FC236}">
                <a16:creationId xmlns:a16="http://schemas.microsoft.com/office/drawing/2014/main" id="{4B6DD081-37B0-0F7B-88BB-31AE7A08039D}"/>
              </a:ext>
            </a:extLst>
          </p:cNvPr>
          <p:cNvSpPr/>
          <p:nvPr/>
        </p:nvSpPr>
        <p:spPr>
          <a:xfrm>
            <a:off x="4097991" y="4591400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CodePipeline, CodeBuild, GitHub</a:t>
            </a:r>
            <a:endParaRPr lang="en-US" sz="1000" dirty="0"/>
          </a:p>
        </p:txBody>
      </p:sp>
      <p:sp>
        <p:nvSpPr>
          <p:cNvPr id="101" name="Text 55">
            <a:extLst>
              <a:ext uri="{FF2B5EF4-FFF2-40B4-BE49-F238E27FC236}">
                <a16:creationId xmlns:a16="http://schemas.microsoft.com/office/drawing/2014/main" id="{B00C8181-07F0-0655-3ECE-81FDB32AB9BA}"/>
              </a:ext>
            </a:extLst>
          </p:cNvPr>
          <p:cNvSpPr/>
          <p:nvPr/>
        </p:nvSpPr>
        <p:spPr>
          <a:xfrm>
            <a:off x="1811991" y="4745586"/>
            <a:ext cx="8343900" cy="182761"/>
          </a:xfrm>
          <a:prstGeom prst="rect">
            <a:avLst/>
          </a:prstGeom>
          <a:solidFill>
            <a:srgbClr val="16A085">
              <a:alpha val="5000"/>
            </a:srgbClr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102" name="Text 56">
            <a:extLst>
              <a:ext uri="{FF2B5EF4-FFF2-40B4-BE49-F238E27FC236}">
                <a16:creationId xmlns:a16="http://schemas.microsoft.com/office/drawing/2014/main" id="{1E02720E-2D01-499A-5617-66E379651F39}"/>
              </a:ext>
            </a:extLst>
          </p:cNvPr>
          <p:cNvSpPr/>
          <p:nvPr/>
        </p:nvSpPr>
        <p:spPr>
          <a:xfrm>
            <a:off x="1907241" y="4783686"/>
            <a:ext cx="223456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Formats</a:t>
            </a:r>
            <a:endParaRPr lang="en-US" sz="1000" dirty="0"/>
          </a:p>
        </p:txBody>
      </p:sp>
      <p:sp>
        <p:nvSpPr>
          <p:cNvPr id="103" name="Text 57">
            <a:extLst>
              <a:ext uri="{FF2B5EF4-FFF2-40B4-BE49-F238E27FC236}">
                <a16:creationId xmlns:a16="http://schemas.microsoft.com/office/drawing/2014/main" id="{B37E87DE-037D-8A80-97B8-CCB7F14E3931}"/>
              </a:ext>
            </a:extLst>
          </p:cNvPr>
          <p:cNvSpPr/>
          <p:nvPr/>
        </p:nvSpPr>
        <p:spPr>
          <a:xfrm>
            <a:off x="4097991" y="4783686"/>
            <a:ext cx="60819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4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PySpark, JSON, Parquet, YAML</a:t>
            </a:r>
            <a:endParaRPr lang="en-US" sz="1000" dirty="0"/>
          </a:p>
        </p:txBody>
      </p:sp>
      <p:pic>
        <p:nvPicPr>
          <p:cNvPr id="105" name="Picture 104" descr="A logo with blue letters&#10;&#10;AI-generated content may be incorrect.">
            <a:extLst>
              <a:ext uri="{FF2B5EF4-FFF2-40B4-BE49-F238E27FC236}">
                <a16:creationId xmlns:a16="http://schemas.microsoft.com/office/drawing/2014/main" id="{87BED904-4EA1-D44A-86E7-3854134AE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53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2414-AC13-80AD-EA4A-D7D987A8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F43F2-D353-05C1-93C0-89CB28D794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61CFF8-C15B-B8B2-0B10-29B25202A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A60EA73-DAC2-228C-30B1-006481554830}"/>
              </a:ext>
            </a:extLst>
          </p:cNvPr>
          <p:cNvSpPr/>
          <p:nvPr/>
        </p:nvSpPr>
        <p:spPr>
          <a:xfrm>
            <a:off x="219075" y="678359"/>
            <a:ext cx="0" cy="54471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AC6599-3DD7-E002-5BE5-B0322621ADED}"/>
              </a:ext>
            </a:extLst>
          </p:cNvPr>
          <p:cNvSpPr/>
          <p:nvPr/>
        </p:nvSpPr>
        <p:spPr>
          <a:xfrm>
            <a:off x="400050" y="678359"/>
            <a:ext cx="51977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Challenges </a:t>
            </a:r>
            <a:endParaRPr lang="en-US" sz="2700" dirty="0">
              <a:solidFill>
                <a:srgbClr val="00206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15336F-0DC1-A434-2788-A1A0B98CAC0F}"/>
              </a:ext>
            </a:extLst>
          </p:cNvPr>
          <p:cNvSpPr/>
          <p:nvPr/>
        </p:nvSpPr>
        <p:spPr>
          <a:xfrm>
            <a:off x="400050" y="104983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Obstacles &amp; Their Solutions</a:t>
            </a:r>
            <a:endParaRPr lang="en-US" sz="975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7325083-9F3B-3046-575E-CCBE2D1554B0}"/>
              </a:ext>
            </a:extLst>
          </p:cNvPr>
          <p:cNvSpPr/>
          <p:nvPr/>
        </p:nvSpPr>
        <p:spPr>
          <a:xfrm>
            <a:off x="1871382" y="1915593"/>
            <a:ext cx="8382000" cy="537121"/>
          </a:xfrm>
          <a:prstGeom prst="roundRect">
            <a:avLst>
              <a:gd name="adj" fmla="val 10640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5DCECEE-7D2A-A2C5-5865-206CDFA1B182}"/>
              </a:ext>
            </a:extLst>
          </p:cNvPr>
          <p:cNvSpPr/>
          <p:nvPr/>
        </p:nvSpPr>
        <p:spPr>
          <a:xfrm>
            <a:off x="1890432" y="1915593"/>
            <a:ext cx="0" cy="5371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DA5D8BA-ED17-4DC5-F818-8C74C92296F1}"/>
              </a:ext>
            </a:extLst>
          </p:cNvPr>
          <p:cNvSpPr/>
          <p:nvPr/>
        </p:nvSpPr>
        <p:spPr>
          <a:xfrm>
            <a:off x="2023782" y="2029893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60"/>
              </a:lnSpc>
              <a:spcAft>
                <a:spcPts val="225"/>
              </a:spcAft>
            </a:pPr>
            <a:r>
              <a:rPr lang="en-US" sz="1000" b="1" dirty="0">
                <a:solidFill>
                  <a:srgbClr val="FF6B35"/>
                </a:solidFill>
                <a:latin typeface="Arial"/>
                <a:ea typeface="+mn-lt"/>
                <a:cs typeface="Arial"/>
              </a:rPr>
              <a:t>⚠️ DQDL RULE DESIGN</a:t>
            </a:r>
            <a:endParaRPr lang="en-US" sz="10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0043681-76EA-22FD-97C2-A4DD4990C720}"/>
              </a:ext>
            </a:extLst>
          </p:cNvPr>
          <p:cNvSpPr/>
          <p:nvPr/>
        </p:nvSpPr>
        <p:spPr>
          <a:xfrm>
            <a:off x="2023782" y="2218459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Logic Setup</a:t>
            </a:r>
            <a:endParaRPr lang="en-US"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82B0EE-96F2-6CE2-F9B2-1054B7B486A9}"/>
              </a:ext>
            </a:extLst>
          </p:cNvPr>
          <p:cNvSpPr/>
          <p:nvPr/>
        </p:nvSpPr>
        <p:spPr>
          <a:xfrm>
            <a:off x="4424082" y="2029893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Designing effective DQDL rules for cryptocurrency data edge cases</a:t>
            </a:r>
            <a:endParaRPr lang="en-US"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8245945-570F-51CB-6BC1-BCB3A89CBF2C}"/>
              </a:ext>
            </a:extLst>
          </p:cNvPr>
          <p:cNvSpPr/>
          <p:nvPr/>
        </p:nvSpPr>
        <p:spPr>
          <a:xfrm>
            <a:off x="4424082" y="2191818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0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Analyzed API data patterns, created comprehensive rule set covering nulls, duplicates, and range validations</a:t>
            </a:r>
            <a:endParaRPr lang="en-US" sz="1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57B7805-0B20-5EB9-AE06-94116D58DB5A}"/>
              </a:ext>
            </a:extLst>
          </p:cNvPr>
          <p:cNvSpPr/>
          <p:nvPr/>
        </p:nvSpPr>
        <p:spPr>
          <a:xfrm>
            <a:off x="1871382" y="2547963"/>
            <a:ext cx="8382000" cy="537121"/>
          </a:xfrm>
          <a:prstGeom prst="roundRect">
            <a:avLst>
              <a:gd name="adj" fmla="val 10640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C8D4685-CB5E-E616-9E17-70F914387B00}"/>
              </a:ext>
            </a:extLst>
          </p:cNvPr>
          <p:cNvSpPr/>
          <p:nvPr/>
        </p:nvSpPr>
        <p:spPr>
          <a:xfrm>
            <a:off x="1890432" y="2547963"/>
            <a:ext cx="0" cy="5371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6A5339C-38C5-5691-3BCA-5BF4106AB00C}"/>
              </a:ext>
            </a:extLst>
          </p:cNvPr>
          <p:cNvSpPr/>
          <p:nvPr/>
        </p:nvSpPr>
        <p:spPr>
          <a:xfrm>
            <a:off x="2023782" y="2662263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QUICKSIGHT REFRESH</a:t>
            </a:r>
            <a:endParaRPr lang="en-US" sz="10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E5DF2E-063A-450F-BE37-E0F3C3464E5D}"/>
              </a:ext>
            </a:extLst>
          </p:cNvPr>
          <p:cNvSpPr/>
          <p:nvPr/>
        </p:nvSpPr>
        <p:spPr>
          <a:xfrm>
            <a:off x="2023782" y="2850829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Not Updating</a:t>
            </a:r>
            <a:endParaRPr lang="en-US" sz="10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6EFEC69-2718-571D-DB7B-1AC4F971E842}"/>
              </a:ext>
            </a:extLst>
          </p:cNvPr>
          <p:cNvSpPr/>
          <p:nvPr/>
        </p:nvSpPr>
        <p:spPr>
          <a:xfrm>
            <a:off x="4424082" y="2662263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QuickSight dashboards showed stale data despite pipeline running successfully</a:t>
            </a:r>
            <a:endParaRPr lang="en-US" sz="10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8AD68B6-1951-60BA-FC9C-E0D33A433AE0}"/>
              </a:ext>
            </a:extLst>
          </p:cNvPr>
          <p:cNvSpPr/>
          <p:nvPr/>
        </p:nvSpPr>
        <p:spPr>
          <a:xfrm>
            <a:off x="4424082" y="2824188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</a:pPr>
            <a:r>
              <a:rPr lang="en-US" sz="1000" b="1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Solution:</a:t>
            </a:r>
            <a:r>
              <a:rPr lang="en-US" sz="1000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 Configured automatic refresh schedules and checked </a:t>
            </a:r>
            <a:r>
              <a:rPr lang="en-US" sz="1000" dirty="0" err="1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athena</a:t>
            </a:r>
            <a:r>
              <a:rPr lang="en-US" sz="1000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 queries</a:t>
            </a:r>
            <a:endParaRPr lang="en-US" sz="1000" dirty="0">
              <a:solidFill>
                <a:srgbClr val="16A085"/>
              </a:solidFill>
              <a:latin typeface="Arial"/>
              <a:cs typeface="Arial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E61AAB8-B80B-C618-B32C-DA95CD1A931F}"/>
              </a:ext>
            </a:extLst>
          </p:cNvPr>
          <p:cNvSpPr/>
          <p:nvPr/>
        </p:nvSpPr>
        <p:spPr>
          <a:xfrm>
            <a:off x="1871382" y="3180335"/>
            <a:ext cx="8382000" cy="537121"/>
          </a:xfrm>
          <a:prstGeom prst="roundRect">
            <a:avLst>
              <a:gd name="adj" fmla="val 10640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E5C06C8-064D-2DD6-9116-C735EE0832A6}"/>
              </a:ext>
            </a:extLst>
          </p:cNvPr>
          <p:cNvSpPr/>
          <p:nvPr/>
        </p:nvSpPr>
        <p:spPr>
          <a:xfrm>
            <a:off x="1890432" y="3180335"/>
            <a:ext cx="0" cy="5371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D1E51F9-DEA9-53BA-D137-4F5B1E0E299A}"/>
              </a:ext>
            </a:extLst>
          </p:cNvPr>
          <p:cNvSpPr/>
          <p:nvPr/>
        </p:nvSpPr>
        <p:spPr>
          <a:xfrm>
            <a:off x="2023782" y="3294635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STREAMING FAILURES</a:t>
            </a:r>
            <a:endParaRPr lang="en-US" sz="10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D69449BA-A5D0-C820-77BD-B9C91A3B3E59}"/>
              </a:ext>
            </a:extLst>
          </p:cNvPr>
          <p:cNvSpPr/>
          <p:nvPr/>
        </p:nvSpPr>
        <p:spPr>
          <a:xfrm>
            <a:off x="2023782" y="3483199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Lambda Issues</a:t>
            </a:r>
            <a:endParaRPr lang="en-US" sz="10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B238929-7345-79E1-E0C0-32B199FCFE90}"/>
              </a:ext>
            </a:extLst>
          </p:cNvPr>
          <p:cNvSpPr/>
          <p:nvPr/>
        </p:nvSpPr>
        <p:spPr>
          <a:xfrm>
            <a:off x="4424082" y="3294635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Lambda timeout errors during high-volume processing from Kinesis stream</a:t>
            </a:r>
            <a:endParaRPr lang="en-US" sz="10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C137726-7C5E-64D4-1B33-C600BAD84ADF}"/>
              </a:ext>
            </a:extLst>
          </p:cNvPr>
          <p:cNvSpPr/>
          <p:nvPr/>
        </p:nvSpPr>
        <p:spPr>
          <a:xfrm>
            <a:off x="4424082" y="3456560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0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Increased Lambda timeout, optimized batch size, implemented DLQ for failed records</a:t>
            </a:r>
            <a:endParaRPr lang="en-US" sz="10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908E3E1D-D844-7F65-C9F5-AB431EB6AFBA}"/>
              </a:ext>
            </a:extLst>
          </p:cNvPr>
          <p:cNvSpPr/>
          <p:nvPr/>
        </p:nvSpPr>
        <p:spPr>
          <a:xfrm>
            <a:off x="1871382" y="3812706"/>
            <a:ext cx="8382000" cy="537121"/>
          </a:xfrm>
          <a:prstGeom prst="roundRect">
            <a:avLst>
              <a:gd name="adj" fmla="val 10640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ED18E011-3156-9C7B-9122-9F7FF6459D2F}"/>
              </a:ext>
            </a:extLst>
          </p:cNvPr>
          <p:cNvSpPr/>
          <p:nvPr/>
        </p:nvSpPr>
        <p:spPr>
          <a:xfrm>
            <a:off x="1890432" y="3812706"/>
            <a:ext cx="0" cy="5371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D3FF769-1393-4F34-739E-B43C68967F8F}"/>
              </a:ext>
            </a:extLst>
          </p:cNvPr>
          <p:cNvSpPr/>
          <p:nvPr/>
        </p:nvSpPr>
        <p:spPr>
          <a:xfrm>
            <a:off x="2023782" y="3927006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GLUE BOOKMARKS</a:t>
            </a:r>
            <a:endParaRPr lang="en-US" sz="100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875D4FB-9A0B-F186-194B-F6A3E97F0122}"/>
              </a:ext>
            </a:extLst>
          </p:cNvPr>
          <p:cNvSpPr/>
          <p:nvPr/>
        </p:nvSpPr>
        <p:spPr>
          <a:xfrm>
            <a:off x="2023782" y="4115571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945"/>
              </a:lnSpc>
              <a:buNone/>
            </a:pPr>
            <a:r>
              <a:rPr lang="en-US" sz="100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 Logic</a:t>
            </a:r>
            <a:endParaRPr lang="en-US" sz="10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8E50488-6927-AB90-7616-29B615673BDC}"/>
              </a:ext>
            </a:extLst>
          </p:cNvPr>
          <p:cNvSpPr/>
          <p:nvPr/>
        </p:nvSpPr>
        <p:spPr>
          <a:xfrm>
            <a:off x="4424082" y="3927006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bookmark behavior for incremental processing in Silver/Gold layers</a:t>
            </a:r>
            <a:endParaRPr lang="en-US" sz="10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E364950C-378D-04BA-8BD8-63F9296E3886}"/>
              </a:ext>
            </a:extLst>
          </p:cNvPr>
          <p:cNvSpPr/>
          <p:nvPr/>
        </p:nvSpPr>
        <p:spPr>
          <a:xfrm>
            <a:off x="4424082" y="4088931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00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Studied AWS documentation, tested with small datasets, added timestamp-based filtering</a:t>
            </a:r>
            <a:endParaRPr lang="en-US" sz="100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EBE4A281-D062-11B4-7223-F8F801F91750}"/>
              </a:ext>
            </a:extLst>
          </p:cNvPr>
          <p:cNvSpPr/>
          <p:nvPr/>
        </p:nvSpPr>
        <p:spPr>
          <a:xfrm>
            <a:off x="1860176" y="4496264"/>
            <a:ext cx="8382000" cy="537121"/>
          </a:xfrm>
          <a:prstGeom prst="roundRect">
            <a:avLst>
              <a:gd name="adj" fmla="val 10640"/>
            </a:avLst>
          </a:prstGeom>
          <a:solidFill>
            <a:srgbClr val="2D1F1F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D7BF9520-1B0C-3967-134F-CF6DCCDA046B}"/>
              </a:ext>
            </a:extLst>
          </p:cNvPr>
          <p:cNvSpPr/>
          <p:nvPr/>
        </p:nvSpPr>
        <p:spPr>
          <a:xfrm>
            <a:off x="1879226" y="4496264"/>
            <a:ext cx="0" cy="53712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ECC0AF65-0747-8A27-4974-FEDE5DB984A6}"/>
              </a:ext>
            </a:extLst>
          </p:cNvPr>
          <p:cNvSpPr/>
          <p:nvPr/>
        </p:nvSpPr>
        <p:spPr>
          <a:xfrm>
            <a:off x="2012576" y="4610564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60"/>
              </a:lnSpc>
              <a:spcAft>
                <a:spcPts val="225"/>
              </a:spcAft>
            </a:pPr>
            <a:r>
              <a:rPr lang="en-US" sz="1000" b="1" dirty="0">
                <a:solidFill>
                  <a:srgbClr val="FF6B35"/>
                </a:solidFill>
                <a:latin typeface="Arial"/>
                <a:ea typeface="Arial" pitchFamily="34" charset="-122"/>
                <a:cs typeface="Arial"/>
              </a:rPr>
              <a:t>⚠️ </a:t>
            </a:r>
            <a:r>
              <a:rPr lang="en-US" sz="1000" b="1" dirty="0">
                <a:solidFill>
                  <a:srgbClr val="FF6B35"/>
                </a:solidFill>
                <a:latin typeface="Arial"/>
                <a:ea typeface="+mn-lt"/>
                <a:cs typeface="Arial"/>
              </a:rPr>
              <a:t>PYDEEQU VERSION MISMATCH</a:t>
            </a:r>
            <a:endParaRPr lang="en-US" sz="1100" dirty="0">
              <a:highlight>
                <a:srgbClr val="FFFFFF"/>
              </a:highlight>
              <a:ea typeface="+mn-lt"/>
              <a:cs typeface="+mn-lt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2148F707-431D-EAB5-6B31-7620B18C9222}"/>
              </a:ext>
            </a:extLst>
          </p:cNvPr>
          <p:cNvSpPr/>
          <p:nvPr/>
        </p:nvSpPr>
        <p:spPr>
          <a:xfrm>
            <a:off x="2012576" y="4799129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44"/>
              </a:lnSpc>
            </a:pPr>
            <a:r>
              <a:rPr lang="en-US" sz="1000" dirty="0">
                <a:solidFill>
                  <a:srgbClr val="90A4AE"/>
                </a:solidFill>
                <a:latin typeface="Arial"/>
                <a:cs typeface="Arial"/>
              </a:rPr>
              <a:t>Library Dependency Issue </a:t>
            </a: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9E2B7529-DB2D-B47D-8EAF-BDA47B47B525}"/>
              </a:ext>
            </a:extLst>
          </p:cNvPr>
          <p:cNvSpPr/>
          <p:nvPr/>
        </p:nvSpPr>
        <p:spPr>
          <a:xfrm>
            <a:off x="4424082" y="4543329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  <a:spcAft>
                <a:spcPts val="225"/>
              </a:spcAft>
            </a:pPr>
            <a:r>
              <a:rPr lang="en-US" sz="1000" b="1" dirty="0">
                <a:solidFill>
                  <a:srgbClr val="FF6B35"/>
                </a:solidFill>
                <a:latin typeface="Arial"/>
                <a:ea typeface="Arial" pitchFamily="34" charset="-122"/>
                <a:cs typeface="Arial"/>
              </a:rPr>
              <a:t>Issue: 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PyDeequ</a:t>
            </a:r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 1.1.0 incompatible with 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PySpark</a:t>
            </a:r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 3.3 and AWS Glue 4.0</a:t>
            </a:r>
            <a:endParaRPr lang="en-US" sz="1000" dirty="0">
              <a:solidFill>
                <a:schemeClr val="bg1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endParaRPr lang="en-US" sz="1000" b="1" dirty="0">
              <a:solidFill>
                <a:srgbClr val="FF6B35"/>
              </a:solidFill>
              <a:latin typeface="Arial"/>
              <a:cs typeface="Arial"/>
            </a:endParaRPr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172F58D6-EDFF-ADCB-BFA5-2AE3B1B6F9DD}"/>
              </a:ext>
            </a:extLst>
          </p:cNvPr>
          <p:cNvSpPr/>
          <p:nvPr/>
        </p:nvSpPr>
        <p:spPr>
          <a:xfrm>
            <a:off x="4412876" y="4772489"/>
            <a:ext cx="5829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50"/>
              </a:lnSpc>
            </a:pPr>
            <a:r>
              <a:rPr lang="en-US" sz="1000" b="1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Solution:</a:t>
            </a:r>
            <a:r>
              <a:rPr lang="en-US" sz="1000" dirty="0">
                <a:solidFill>
                  <a:srgbClr val="16A085"/>
                </a:solidFill>
                <a:latin typeface="Arial"/>
                <a:ea typeface="Arial" pitchFamily="34" charset="-122"/>
                <a:cs typeface="Arial"/>
              </a:rPr>
              <a:t>  </a:t>
            </a:r>
            <a:r>
              <a:rPr lang="en-US" sz="1000" dirty="0">
                <a:solidFill>
                  <a:srgbClr val="16A085"/>
                </a:solidFill>
                <a:ea typeface="+mn-lt"/>
                <a:cs typeface="+mn-lt"/>
              </a:rPr>
              <a:t>Switched to AWS Glue DQDL (native, no dependencies)</a:t>
            </a:r>
            <a:endParaRPr lang="en-US" sz="1000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ts val="1050"/>
              </a:lnSpc>
            </a:pPr>
            <a:endParaRPr lang="en-US" sz="1000" dirty="0">
              <a:solidFill>
                <a:srgbClr val="16A08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40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0EE1-0109-4E01-1822-03414DC2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45C28-7AEA-CF30-0CAE-3FD8EC3AC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B3D65F-E693-2908-D115-42F811BE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CF75970-5083-4B5B-A0C3-F8A222BD46C1}"/>
              </a:ext>
            </a:extLst>
          </p:cNvPr>
          <p:cNvSpPr/>
          <p:nvPr/>
        </p:nvSpPr>
        <p:spPr>
          <a:xfrm>
            <a:off x="219075" y="516285"/>
            <a:ext cx="0" cy="54471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DA041F-E520-ED3D-0B3C-B8BA2BF9EA46}"/>
              </a:ext>
            </a:extLst>
          </p:cNvPr>
          <p:cNvSpPr/>
          <p:nvPr/>
        </p:nvSpPr>
        <p:spPr>
          <a:xfrm>
            <a:off x="400050" y="516285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Future Enhancements</a:t>
            </a:r>
            <a:endParaRPr lang="en-US" sz="2700">
              <a:solidFill>
                <a:srgbClr val="00206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D732885-0C00-648D-8568-C11170C531AC}"/>
              </a:ext>
            </a:extLst>
          </p:cNvPr>
          <p:cNvSpPr/>
          <p:nvPr/>
        </p:nvSpPr>
        <p:spPr>
          <a:xfrm>
            <a:off x="400050" y="88776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Improvements &amp; Next Steps</a:t>
            </a:r>
            <a:endParaRPr lang="en-US" sz="975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C2DC1A-D526-97BC-A0A8-779EFCF13D80}"/>
              </a:ext>
            </a:extLst>
          </p:cNvPr>
          <p:cNvSpPr/>
          <p:nvPr/>
        </p:nvSpPr>
        <p:spPr>
          <a:xfrm>
            <a:off x="1938618" y="165266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AC37032-4CBC-265F-83F4-E73BBC0D2C47}"/>
              </a:ext>
            </a:extLst>
          </p:cNvPr>
          <p:cNvSpPr/>
          <p:nvPr/>
        </p:nvSpPr>
        <p:spPr>
          <a:xfrm>
            <a:off x="1957668" y="1652667"/>
            <a:ext cx="0" cy="9029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DA4C262-56F5-E224-1E94-CABE63D8A32C}"/>
              </a:ext>
            </a:extLst>
          </p:cNvPr>
          <p:cNvSpPr/>
          <p:nvPr/>
        </p:nvSpPr>
        <p:spPr>
          <a:xfrm>
            <a:off x="2091018" y="176696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INTEGRATION</a:t>
            </a:r>
            <a:endParaRPr lang="en-US" sz="10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576276-2436-8E75-2BA7-CFBB0191A544}"/>
              </a:ext>
            </a:extLst>
          </p:cNvPr>
          <p:cNvSpPr/>
          <p:nvPr/>
        </p:nvSpPr>
        <p:spPr>
          <a:xfrm>
            <a:off x="2091018" y="198410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prediction models using historical data</a:t>
            </a:r>
            <a:endParaRPr lang="en-US" sz="1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4DAE22-1273-7474-43B3-349E783B1C52}"/>
              </a:ext>
            </a:extLst>
          </p:cNvPr>
          <p:cNvSpPr/>
          <p:nvPr/>
        </p:nvSpPr>
        <p:spPr>
          <a:xfrm>
            <a:off x="2091018" y="214603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for unusual price movements</a:t>
            </a:r>
            <a:endParaRPr lang="en-US" sz="10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C121594-C490-1429-5FAF-1C9183A32A01}"/>
              </a:ext>
            </a:extLst>
          </p:cNvPr>
          <p:cNvSpPr/>
          <p:nvPr/>
        </p:nvSpPr>
        <p:spPr>
          <a:xfrm>
            <a:off x="1938618" y="265085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4CF97D0-0638-E5D4-B239-3B7C046AE52C}"/>
              </a:ext>
            </a:extLst>
          </p:cNvPr>
          <p:cNvSpPr/>
          <p:nvPr/>
        </p:nvSpPr>
        <p:spPr>
          <a:xfrm>
            <a:off x="1957668" y="2650857"/>
            <a:ext cx="0" cy="9029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BB171D7-B6F3-FCE5-1712-480A7A66C287}"/>
              </a:ext>
            </a:extLst>
          </p:cNvPr>
          <p:cNvSpPr/>
          <p:nvPr/>
        </p:nvSpPr>
        <p:spPr>
          <a:xfrm>
            <a:off x="2091018" y="276515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MONITORING</a:t>
            </a:r>
            <a:endParaRPr lang="en-US" sz="10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4675C1A-1381-0BD5-4CD5-2FC281087251}"/>
              </a:ext>
            </a:extLst>
          </p:cNvPr>
          <p:cNvSpPr/>
          <p:nvPr/>
        </p:nvSpPr>
        <p:spPr>
          <a:xfrm>
            <a:off x="2091018" y="298229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dashboards for pipeline metrics</a:t>
            </a:r>
            <a:endParaRPr lang="en-US" sz="10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CF58DDE-C86E-BD4B-64B8-C8A4271083DE}"/>
              </a:ext>
            </a:extLst>
          </p:cNvPr>
          <p:cNvSpPr/>
          <p:nvPr/>
        </p:nvSpPr>
        <p:spPr>
          <a:xfrm>
            <a:off x="2091018" y="317167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tracking and alerts</a:t>
            </a:r>
            <a:endParaRPr lang="en-US" sz="10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30A3783-0D5B-E2CA-6085-653624CB8789}"/>
              </a:ext>
            </a:extLst>
          </p:cNvPr>
          <p:cNvSpPr/>
          <p:nvPr/>
        </p:nvSpPr>
        <p:spPr>
          <a:xfrm>
            <a:off x="1938618" y="364904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48A662F2-CEEF-8590-818D-2EE3DCEEFC9D}"/>
              </a:ext>
            </a:extLst>
          </p:cNvPr>
          <p:cNvSpPr/>
          <p:nvPr/>
        </p:nvSpPr>
        <p:spPr>
          <a:xfrm>
            <a:off x="1957668" y="3649047"/>
            <a:ext cx="0" cy="90294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E36693B3-5EDF-3811-19EB-EDB3F861F57B}"/>
              </a:ext>
            </a:extLst>
          </p:cNvPr>
          <p:cNvSpPr/>
          <p:nvPr/>
        </p:nvSpPr>
        <p:spPr>
          <a:xfrm>
            <a:off x="2091018" y="376334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IaC IMPLEMENTATION</a:t>
            </a:r>
            <a:endParaRPr lang="en-US" sz="100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18E0F0A-112D-1B00-AB1D-9804A49A704E}"/>
              </a:ext>
            </a:extLst>
          </p:cNvPr>
          <p:cNvSpPr/>
          <p:nvPr/>
        </p:nvSpPr>
        <p:spPr>
          <a:xfrm>
            <a:off x="2091018" y="398048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Terraform/CloudFormation for all AWS resources</a:t>
            </a:r>
            <a:endParaRPr lang="en-US" sz="10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CE1A0C4-3241-B24E-98AD-05F0E33585C9}"/>
              </a:ext>
            </a:extLst>
          </p:cNvPr>
          <p:cNvSpPr/>
          <p:nvPr/>
        </p:nvSpPr>
        <p:spPr>
          <a:xfrm>
            <a:off x="2091018" y="414241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management (dev, staging, prod)</a:t>
            </a:r>
            <a:endParaRPr lang="en-US" sz="10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70B803C-564E-179D-DED7-80FE063C7E54}"/>
              </a:ext>
            </a:extLst>
          </p:cNvPr>
          <p:cNvSpPr/>
          <p:nvPr/>
        </p:nvSpPr>
        <p:spPr>
          <a:xfrm>
            <a:off x="2091018" y="430433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deployment of entire infrastructure</a:t>
            </a:r>
            <a:endParaRPr lang="en-US" sz="10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2D7C9B8-81E1-ECDE-4048-5AF8692F9D24}"/>
              </a:ext>
            </a:extLst>
          </p:cNvPr>
          <p:cNvSpPr/>
          <p:nvPr/>
        </p:nvSpPr>
        <p:spPr>
          <a:xfrm>
            <a:off x="6186768" y="165266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616C4B0F-D267-CCA3-5997-0CB5A2286FA4}"/>
              </a:ext>
            </a:extLst>
          </p:cNvPr>
          <p:cNvSpPr/>
          <p:nvPr/>
        </p:nvSpPr>
        <p:spPr>
          <a:xfrm>
            <a:off x="6205818" y="1652667"/>
            <a:ext cx="0" cy="9029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5DB1E8A5-D45F-65CE-6248-F9BF39EFC6A8}"/>
              </a:ext>
            </a:extLst>
          </p:cNvPr>
          <p:cNvSpPr/>
          <p:nvPr/>
        </p:nvSpPr>
        <p:spPr>
          <a:xfrm>
            <a:off x="6339168" y="176696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DATA SOURCES</a:t>
            </a:r>
            <a:endParaRPr lang="en-US" sz="100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1DBC9BB2-1FD8-97BC-52A5-A3AA1049B0BF}"/>
              </a:ext>
            </a:extLst>
          </p:cNvPr>
          <p:cNvSpPr/>
          <p:nvPr/>
        </p:nvSpPr>
        <p:spPr>
          <a:xfrm>
            <a:off x="6339168" y="198410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sentiment analysis (Twitter, Reddit)</a:t>
            </a:r>
            <a:endParaRPr lang="en-US" sz="10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82191A4-22A2-2BF9-2023-4FD94D0A49F1}"/>
              </a:ext>
            </a:extLst>
          </p:cNvPr>
          <p:cNvSpPr/>
          <p:nvPr/>
        </p:nvSpPr>
        <p:spPr>
          <a:xfrm>
            <a:off x="6339168" y="214603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articles and market analysis feeds</a:t>
            </a:r>
            <a:endParaRPr lang="en-US" sz="100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407F8CA-98C6-BB98-FA30-17BC6DC5E297}"/>
              </a:ext>
            </a:extLst>
          </p:cNvPr>
          <p:cNvSpPr/>
          <p:nvPr/>
        </p:nvSpPr>
        <p:spPr>
          <a:xfrm>
            <a:off x="6339168" y="230795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volume from multiple exchanges</a:t>
            </a:r>
            <a:endParaRPr lang="en-US" sz="100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275A963-ED17-9C03-F6D8-9D522F3F3E67}"/>
              </a:ext>
            </a:extLst>
          </p:cNvPr>
          <p:cNvSpPr/>
          <p:nvPr/>
        </p:nvSpPr>
        <p:spPr>
          <a:xfrm>
            <a:off x="6186768" y="265085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BC132F47-459B-B428-25A5-1B0167706CCE}"/>
              </a:ext>
            </a:extLst>
          </p:cNvPr>
          <p:cNvSpPr/>
          <p:nvPr/>
        </p:nvSpPr>
        <p:spPr>
          <a:xfrm>
            <a:off x="6205818" y="2650857"/>
            <a:ext cx="0" cy="9029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B288BB71-48EA-28C5-CF09-5B985F51C7E8}"/>
              </a:ext>
            </a:extLst>
          </p:cNvPr>
          <p:cNvSpPr/>
          <p:nvPr/>
        </p:nvSpPr>
        <p:spPr>
          <a:xfrm>
            <a:off x="6339168" y="276515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00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F7988F5-2571-10F6-A7E6-92F04A621B4D}"/>
              </a:ext>
            </a:extLst>
          </p:cNvPr>
          <p:cNvSpPr/>
          <p:nvPr/>
        </p:nvSpPr>
        <p:spPr>
          <a:xfrm>
            <a:off x="6339168" y="298229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 between cryptocurrencies</a:t>
            </a:r>
            <a:endParaRPr lang="en-US" sz="100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2B01528-4FF3-994E-BB25-A82B67B89E82}"/>
              </a:ext>
            </a:extLst>
          </p:cNvPr>
          <p:cNvSpPr/>
          <p:nvPr/>
        </p:nvSpPr>
        <p:spPr>
          <a:xfrm>
            <a:off x="6339168" y="314422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 recommendations</a:t>
            </a:r>
            <a:endParaRPr lang="en-US" sz="10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D353574B-41B5-6CBC-8D7C-2391601FBD4F}"/>
              </a:ext>
            </a:extLst>
          </p:cNvPr>
          <p:cNvSpPr/>
          <p:nvPr/>
        </p:nvSpPr>
        <p:spPr>
          <a:xfrm>
            <a:off x="6339168" y="330614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backtesting framework</a:t>
            </a:r>
            <a:endParaRPr lang="en-US" sz="100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74C82FBC-1F5F-53D0-2AFE-121A5746E00D}"/>
              </a:ext>
            </a:extLst>
          </p:cNvPr>
          <p:cNvSpPr/>
          <p:nvPr/>
        </p:nvSpPr>
        <p:spPr>
          <a:xfrm>
            <a:off x="6186768" y="3649047"/>
            <a:ext cx="4133850" cy="902940"/>
          </a:xfrm>
          <a:prstGeom prst="roundRect">
            <a:avLst>
              <a:gd name="adj" fmla="val 6329"/>
            </a:avLst>
          </a:prstGeom>
          <a:solidFill>
            <a:srgbClr val="1A2942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2B27125-7A12-33B4-92D1-859C69B2B711}"/>
              </a:ext>
            </a:extLst>
          </p:cNvPr>
          <p:cNvSpPr/>
          <p:nvPr/>
        </p:nvSpPr>
        <p:spPr>
          <a:xfrm>
            <a:off x="6205818" y="3649047"/>
            <a:ext cx="0" cy="9029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5DCCB36D-6A0A-7F7C-9116-4778E57AE511}"/>
              </a:ext>
            </a:extLst>
          </p:cNvPr>
          <p:cNvSpPr/>
          <p:nvPr/>
        </p:nvSpPr>
        <p:spPr>
          <a:xfrm>
            <a:off x="6339168" y="3763347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00" b="1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IMPROVEMENTS</a:t>
            </a:r>
            <a:endParaRPr lang="en-US" sz="100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75AD8B60-343D-DB41-2C89-8C8E176892E0}"/>
              </a:ext>
            </a:extLst>
          </p:cNvPr>
          <p:cNvSpPr/>
          <p:nvPr/>
        </p:nvSpPr>
        <p:spPr>
          <a:xfrm>
            <a:off x="6339168" y="398048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1000+ cryptocurrencies (currently 100)</a:t>
            </a:r>
            <a:endParaRPr lang="en-US" sz="100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9B3E4E85-AC5C-4ABB-9B4F-0EB247873DA2}"/>
              </a:ext>
            </a:extLst>
          </p:cNvPr>
          <p:cNvSpPr/>
          <p:nvPr/>
        </p:nvSpPr>
        <p:spPr>
          <a:xfrm>
            <a:off x="6339168" y="4142412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streaming latency to sub-second</a:t>
            </a:r>
            <a:endParaRPr lang="en-US" sz="100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E7B92E37-0D46-C84A-A741-F988A85ED5A3}"/>
              </a:ext>
            </a:extLst>
          </p:cNvPr>
          <p:cNvSpPr/>
          <p:nvPr/>
        </p:nvSpPr>
        <p:spPr>
          <a:xfrm>
            <a:off x="6339168" y="430433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5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data partitioning strategies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73996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4EC2-6B10-DEFF-5BCC-62EADD29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0003-2F1B-5657-C6AA-9CE45BC48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D450DB-10C7-6DFD-D61B-709AEE06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pic>
        <p:nvPicPr>
          <p:cNvPr id="2" name="Image 0">
            <a:extLst>
              <a:ext uri="{FF2B5EF4-FFF2-40B4-BE49-F238E27FC236}">
                <a16:creationId xmlns:a16="http://schemas.microsoft.com/office/drawing/2014/main" id="{9D630962-78E6-6BC2-00AE-DFA0282A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464" y="1593598"/>
            <a:ext cx="4026658" cy="586172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C9F4C5A0-C6A9-5083-6677-385B0B980475}"/>
              </a:ext>
            </a:extLst>
          </p:cNvPr>
          <p:cNvSpPr/>
          <p:nvPr/>
        </p:nvSpPr>
        <p:spPr>
          <a:xfrm>
            <a:off x="3937076" y="1754561"/>
            <a:ext cx="4160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>
                <a:solidFill>
                  <a:srgbClr val="002060"/>
                </a:solidFill>
                <a:latin typeface="Arial"/>
                <a:ea typeface="Arial" pitchFamily="34" charset="-122"/>
                <a:cs typeface="Arial"/>
              </a:rPr>
              <a:t>Questions &amp; Discussion</a:t>
            </a:r>
            <a:endParaRPr lang="en-US" sz="150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AAEECD8-7BFF-9753-7463-05830F185575}"/>
              </a:ext>
            </a:extLst>
          </p:cNvPr>
          <p:cNvSpPr/>
          <p:nvPr/>
        </p:nvSpPr>
        <p:spPr>
          <a:xfrm>
            <a:off x="3563253" y="3368209"/>
            <a:ext cx="5211174" cy="1786934"/>
          </a:xfrm>
          <a:prstGeom prst="roundRect">
            <a:avLst>
              <a:gd name="adj" fmla="val 6212"/>
            </a:avLst>
          </a:prstGeom>
          <a:solidFill>
            <a:srgbClr val="1A2942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F19684F-4BC1-ACC6-4388-E25186DEF310}"/>
              </a:ext>
            </a:extLst>
          </p:cNvPr>
          <p:cNvSpPr/>
          <p:nvPr/>
        </p:nvSpPr>
        <p:spPr>
          <a:xfrm>
            <a:off x="4363729" y="3689817"/>
            <a:ext cx="37334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HIGHLIGHTS</a:t>
            </a:r>
            <a:endParaRPr lang="en-US" sz="10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3DF18C5-9FC5-E14D-1F94-EB6DBBAA8E84}"/>
              </a:ext>
            </a:extLst>
          </p:cNvPr>
          <p:cNvSpPr/>
          <p:nvPr/>
        </p:nvSpPr>
        <p:spPr>
          <a:xfrm>
            <a:off x="4209832" y="4017387"/>
            <a:ext cx="1808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19 AWS Services Integrated</a:t>
            </a:r>
            <a:endParaRPr lang="en-US" sz="10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A31A4FF-97A8-D92B-FB56-0FE31F1BB136}"/>
              </a:ext>
            </a:extLst>
          </p:cNvPr>
          <p:cNvSpPr/>
          <p:nvPr/>
        </p:nvSpPr>
        <p:spPr>
          <a:xfrm>
            <a:off x="4209832" y="4177378"/>
            <a:ext cx="2021360" cy="23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&amp; Streaming Architectures</a:t>
            </a:r>
            <a:endParaRPr lang="en-US" sz="10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8190588-6D07-761F-18FB-C7017F29669E}"/>
              </a:ext>
            </a:extLst>
          </p:cNvPr>
          <p:cNvSpPr/>
          <p:nvPr/>
        </p:nvSpPr>
        <p:spPr>
          <a:xfrm>
            <a:off x="4209832" y="4337368"/>
            <a:ext cx="1808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Medallion Data Architecture</a:t>
            </a:r>
            <a:endParaRPr lang="en-US" sz="10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934C227-7238-6C72-3E89-8B07B5A2B557}"/>
              </a:ext>
            </a:extLst>
          </p:cNvPr>
          <p:cNvSpPr/>
          <p:nvPr/>
        </p:nvSpPr>
        <p:spPr>
          <a:xfrm>
            <a:off x="6287621" y="4017387"/>
            <a:ext cx="1808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99%+ Data Quality Achieved</a:t>
            </a:r>
            <a:endParaRPr lang="en-US" sz="10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EE32BF0-8908-F30B-223D-00C769776DB8}"/>
              </a:ext>
            </a:extLst>
          </p:cNvPr>
          <p:cNvSpPr/>
          <p:nvPr/>
        </p:nvSpPr>
        <p:spPr>
          <a:xfrm>
            <a:off x="6287621" y="4177378"/>
            <a:ext cx="1808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Arial"/>
                <a:ea typeface="Arial" pitchFamily="34" charset="-122"/>
                <a:cs typeface="Arial"/>
              </a:rPr>
              <a:t>✓ CI/CD Pipeline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27E25CE-2715-09CE-0352-D9B14AD26B26}"/>
              </a:ext>
            </a:extLst>
          </p:cNvPr>
          <p:cNvSpPr/>
          <p:nvPr/>
        </p:nvSpPr>
        <p:spPr>
          <a:xfrm>
            <a:off x="6287621" y="4337368"/>
            <a:ext cx="18084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260"/>
              </a:lnSpc>
              <a:buNone/>
            </a:pPr>
            <a:r>
              <a:rPr lang="en-US" sz="100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 Solution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7132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B985-81A1-A8BC-DDF6-A79B21BC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CE0A0-AD0A-7256-A319-A308611816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368796-7D30-4EBB-D1B3-43459FEE3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1" y="841"/>
            <a:ext cx="1047750" cy="1057275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5A2A091F-7EE8-91DF-5C12-0542C7625B12}"/>
              </a:ext>
            </a:extLst>
          </p:cNvPr>
          <p:cNvSpPr/>
          <p:nvPr/>
        </p:nvSpPr>
        <p:spPr>
          <a:xfrm>
            <a:off x="4053763" y="2457118"/>
            <a:ext cx="4084476" cy="96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60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Thank You</a:t>
            </a:r>
            <a:endParaRPr lang="en-US" sz="6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7BBCA75-F0EE-8DA4-AC44-7ED3BEDF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771061"/>
            <a:ext cx="1524000" cy="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12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6EB691-4DD5-4558-B7D1-3EA8CC81E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</Words>
  <Application>Microsoft Office PowerPoint</Application>
  <PresentationFormat>Widescreen</PresentationFormat>
  <Paragraphs>108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464</cp:revision>
  <dcterms:created xsi:type="dcterms:W3CDTF">2026-01-12T23:51:39Z</dcterms:created>
  <dcterms:modified xsi:type="dcterms:W3CDTF">2026-01-13T17:55:40Z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